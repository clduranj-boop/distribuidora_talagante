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10287000" cx="18288000"/>
  <p:notesSz cx="6858000" cy="9144000"/>
  <p:embeddedFontLst>
    <p:embeddedFont>
      <p:font typeface="Rubik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jN0a1EdfLE/8i5BPGfsCxGQApp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ubik-bold.fntdata"/><Relationship Id="rId21" Type="http://schemas.openxmlformats.org/officeDocument/2006/relationships/font" Target="fonts/Rubik-regular.fntdata"/><Relationship Id="rId24" Type="http://schemas.openxmlformats.org/officeDocument/2006/relationships/font" Target="fonts/Rubik-boldItalic.fntdata"/><Relationship Id="rId23" Type="http://schemas.openxmlformats.org/officeDocument/2006/relationships/font" Target="fonts/Rubik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6" name="Google Shape;96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97" name="Google Shape;97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7" name="Google Shape;147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0" name="Google Shape;15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5" name="Google Shape;16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6" name="Google Shape;166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9" name="Google Shape;16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87" name="Google Shape;187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8" name="Google Shape;188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1" name="Google Shape;191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08" name="Google Shape;208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9" name="Google Shape;209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2" name="Google Shape;212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1" name="Google Shape;221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2" name="Google Shape;222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5" name="Google Shape;225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5" name="Google Shape;235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6" name="Google Shape;236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9" name="Google Shape;239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9" name="Google Shape;249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2" name="Google Shape;292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3" name="Google Shape;293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96" name="Google Shape;296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f78b970b4_1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2" name="Google Shape;302;g3af78b970b4_1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3" name="Google Shape;303;g3af78b970b4_1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af78b970b4_1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af78b970b4_1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g3af78b970b4_1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4" name="Google Shape;314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8" name="Google Shape;328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9" name="Google Shape;329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32" name="Google Shape;332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48" name="Google Shape;348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9" name="Google Shape;349;p1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52" name="Google Shape;352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26.jpg"/><Relationship Id="rId5" Type="http://schemas.openxmlformats.org/officeDocument/2006/relationships/image" Target="../media/image24.jpg"/><Relationship Id="rId6" Type="http://schemas.openxmlformats.org/officeDocument/2006/relationships/image" Target="../media/image3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1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7.png"/><Relationship Id="rId5" Type="http://schemas.openxmlformats.org/officeDocument/2006/relationships/hyperlink" Target="https://github.com/clduranj-boop/Distribuidora_Talagante" TargetMode="External"/><Relationship Id="rId6" Type="http://schemas.openxmlformats.org/officeDocument/2006/relationships/image" Target="../media/image10.png"/><Relationship Id="rId7" Type="http://schemas.openxmlformats.org/officeDocument/2006/relationships/hyperlink" Target="https://trello.com/b/kABcRK4d/reuniones-checkpoints" TargetMode="External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9.png"/><Relationship Id="rId13" Type="http://schemas.openxmlformats.org/officeDocument/2006/relationships/image" Target="../media/image23.pn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8.png"/><Relationship Id="rId9" Type="http://schemas.openxmlformats.org/officeDocument/2006/relationships/image" Target="../media/image10.png"/><Relationship Id="rId15" Type="http://schemas.openxmlformats.org/officeDocument/2006/relationships/image" Target="../media/image27.png"/><Relationship Id="rId14" Type="http://schemas.openxmlformats.org/officeDocument/2006/relationships/image" Target="../media/image16.png"/><Relationship Id="rId5" Type="http://schemas.openxmlformats.org/officeDocument/2006/relationships/image" Target="../media/image22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distribuidora-talagante.onrender.co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21.png"/><Relationship Id="rId5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92" name="Google Shape;92;p1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91426" y="3964513"/>
            <a:ext cx="18105000" cy="1773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PROYECTO “Distribuidora Talaga</a:t>
            </a: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te”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PRESENTACIÓN FINAL CAPSTO</a:t>
            </a:r>
            <a:r>
              <a:rPr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</a:t>
            </a:r>
            <a:r>
              <a:rPr i="0" lang="en-US" sz="3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102" name="Google Shape;102;p2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103" name="Google Shape;103;p2"/>
          <p:cNvSpPr txBox="1"/>
          <p:nvPr/>
        </p:nvSpPr>
        <p:spPr>
          <a:xfrm>
            <a:off x="3252100" y="1771663"/>
            <a:ext cx="116106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INTEGRANTES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5" name="Google Shape;105;p2"/>
          <p:cNvSpPr txBox="1"/>
          <p:nvPr/>
        </p:nvSpPr>
        <p:spPr>
          <a:xfrm>
            <a:off x="295707" y="541942"/>
            <a:ext cx="18105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  <p:grpSp>
        <p:nvGrpSpPr>
          <p:cNvPr id="106" name="Google Shape;106;p2"/>
          <p:cNvGrpSpPr/>
          <p:nvPr/>
        </p:nvGrpSpPr>
        <p:grpSpPr>
          <a:xfrm>
            <a:off x="12274837" y="6979274"/>
            <a:ext cx="3948242" cy="1003659"/>
            <a:chOff x="0" y="-47625"/>
            <a:chExt cx="1039866" cy="264338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039866" cy="216713"/>
            </a:xfrm>
            <a:custGeom>
              <a:rect b="b" l="l" r="r" t="t"/>
              <a:pathLst>
                <a:path extrusionOk="0"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BCACF6"/>
            </a:solidFill>
            <a:ln cap="rnd" cmpd="sng" w="381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2"/>
            <p:cNvSpPr txBox="1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CLAUDIO DURÁN</a:t>
              </a:r>
              <a:endParaRPr/>
            </a:p>
          </p:txBody>
        </p:sp>
      </p:grpSp>
      <p:sp>
        <p:nvSpPr>
          <p:cNvPr id="109" name="Google Shape;109;p2"/>
          <p:cNvSpPr txBox="1"/>
          <p:nvPr/>
        </p:nvSpPr>
        <p:spPr>
          <a:xfrm>
            <a:off x="12274837" y="8190765"/>
            <a:ext cx="3948242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👉Desarrollador Front-end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👉Encargado de la parte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    visual de la plataforma.</a:t>
            </a:r>
            <a:endParaRPr/>
          </a:p>
          <a:p>
            <a:pPr indent="0" lvl="0" marL="0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1A1A1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110" name="Google Shape;110;p2"/>
          <p:cNvGrpSpPr/>
          <p:nvPr/>
        </p:nvGrpSpPr>
        <p:grpSpPr>
          <a:xfrm>
            <a:off x="7374160" y="6979274"/>
            <a:ext cx="3948242" cy="1003659"/>
            <a:chOff x="0" y="-47625"/>
            <a:chExt cx="1039866" cy="264338"/>
          </a:xfrm>
        </p:grpSpPr>
        <p:sp>
          <p:nvSpPr>
            <p:cNvPr id="111" name="Google Shape;111;p2"/>
            <p:cNvSpPr/>
            <p:nvPr/>
          </p:nvSpPr>
          <p:spPr>
            <a:xfrm>
              <a:off x="0" y="0"/>
              <a:ext cx="1039866" cy="216713"/>
            </a:xfrm>
            <a:custGeom>
              <a:rect b="b" l="l" r="r" t="t"/>
              <a:pathLst>
                <a:path extrusionOk="0"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F0B8E8"/>
            </a:solidFill>
            <a:ln cap="rnd" cmpd="sng" w="381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2"/>
            <p:cNvSpPr txBox="1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FABRIZZIO GÓMEZ</a:t>
              </a:r>
              <a:endParaRPr/>
            </a:p>
          </p:txBody>
        </p:sp>
      </p:grpSp>
      <p:sp>
        <p:nvSpPr>
          <p:cNvPr id="113" name="Google Shape;113;p2"/>
          <p:cNvSpPr txBox="1"/>
          <p:nvPr/>
        </p:nvSpPr>
        <p:spPr>
          <a:xfrm>
            <a:off x="7374160" y="8190765"/>
            <a:ext cx="3948242" cy="1406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👉Desarrollador full stack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👉Encargado del back-end,       </a:t>
            </a:r>
            <a:endParaRPr/>
          </a:p>
          <a:p>
            <a:pPr indent="0" lvl="0" marL="0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    front-end y BD</a:t>
            </a:r>
            <a:endParaRPr/>
          </a:p>
          <a:p>
            <a:pPr indent="0" lvl="0" marL="0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1A1A1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grpSp>
        <p:nvGrpSpPr>
          <p:cNvPr id="114" name="Google Shape;114;p2"/>
          <p:cNvGrpSpPr/>
          <p:nvPr/>
        </p:nvGrpSpPr>
        <p:grpSpPr>
          <a:xfrm>
            <a:off x="1978698" y="6979274"/>
            <a:ext cx="3948242" cy="1003659"/>
            <a:chOff x="0" y="-47625"/>
            <a:chExt cx="1039866" cy="264338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1039866" cy="216713"/>
            </a:xfrm>
            <a:custGeom>
              <a:rect b="b" l="l" r="r" t="t"/>
              <a:pathLst>
                <a:path extrusionOk="0" h="216713" w="1039866">
                  <a:moveTo>
                    <a:pt x="108357" y="0"/>
                  </a:moveTo>
                  <a:lnTo>
                    <a:pt x="931510" y="0"/>
                  </a:lnTo>
                  <a:cubicBezTo>
                    <a:pt x="991353" y="0"/>
                    <a:pt x="1039866" y="48513"/>
                    <a:pt x="1039866" y="108357"/>
                  </a:cubicBezTo>
                  <a:lnTo>
                    <a:pt x="1039866" y="108357"/>
                  </a:lnTo>
                  <a:cubicBezTo>
                    <a:pt x="1039866" y="137095"/>
                    <a:pt x="1028450" y="164655"/>
                    <a:pt x="1008129" y="184976"/>
                  </a:cubicBezTo>
                  <a:cubicBezTo>
                    <a:pt x="987809" y="205297"/>
                    <a:pt x="960248" y="216713"/>
                    <a:pt x="931510" y="216713"/>
                  </a:cubicBezTo>
                  <a:lnTo>
                    <a:pt x="108357" y="216713"/>
                  </a:lnTo>
                  <a:cubicBezTo>
                    <a:pt x="79619" y="216713"/>
                    <a:pt x="52058" y="205297"/>
                    <a:pt x="31737" y="184976"/>
                  </a:cubicBezTo>
                  <a:cubicBezTo>
                    <a:pt x="11416" y="164655"/>
                    <a:pt x="0" y="137095"/>
                    <a:pt x="0" y="108357"/>
                  </a:cubicBezTo>
                  <a:lnTo>
                    <a:pt x="0" y="108357"/>
                  </a:lnTo>
                  <a:cubicBezTo>
                    <a:pt x="0" y="79619"/>
                    <a:pt x="11416" y="52058"/>
                    <a:pt x="31737" y="31737"/>
                  </a:cubicBezTo>
                  <a:cubicBezTo>
                    <a:pt x="52058" y="11416"/>
                    <a:pt x="79619" y="0"/>
                    <a:pt x="108357" y="0"/>
                  </a:cubicBezTo>
                  <a:close/>
                </a:path>
              </a:pathLst>
            </a:custGeom>
            <a:solidFill>
              <a:srgbClr val="FFDF36"/>
            </a:solidFill>
            <a:ln cap="rnd" cmpd="sng" w="38100">
              <a:solidFill>
                <a:srgbClr val="1A1A1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0" y="-47625"/>
              <a:ext cx="1039866" cy="2643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0" lIns="254000" spcFirstLastPara="1" rIns="254000" wrap="square" tIns="2540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VALENTINA VERA</a:t>
              </a:r>
              <a:endParaRPr/>
            </a:p>
          </p:txBody>
        </p:sp>
      </p:grpSp>
      <p:sp>
        <p:nvSpPr>
          <p:cNvPr id="117" name="Google Shape;117;p2"/>
          <p:cNvSpPr txBox="1"/>
          <p:nvPr/>
        </p:nvSpPr>
        <p:spPr>
          <a:xfrm>
            <a:off x="1600636" y="8190765"/>
            <a:ext cx="4902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👉Scrum master, Desarrolladora.</a:t>
            </a:r>
            <a:endParaRPr/>
          </a:p>
          <a:p>
            <a:pPr indent="0" lvl="0" marL="0" marR="0" rtl="0" algn="just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👉Facilitación de Scrum/</a:t>
            </a:r>
            <a:endParaRPr/>
          </a:p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99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b="0" i="0" lang="en-US" sz="1999" u="none" cap="none" strike="noStrike">
                <a:solidFill>
                  <a:srgbClr val="1A1A1A"/>
                </a:solidFill>
                <a:latin typeface="Rubik"/>
                <a:ea typeface="Rubik"/>
                <a:cs typeface="Rubik"/>
                <a:sym typeface="Rubik"/>
              </a:rPr>
              <a:t>Comunicación directa con el cliente.</a:t>
            </a:r>
            <a:endParaRPr/>
          </a:p>
          <a:p>
            <a:pPr indent="0" lvl="0" marL="0" marR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99" u="none" cap="none" strike="noStrike">
              <a:solidFill>
                <a:srgbClr val="1A1A1A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pic>
        <p:nvPicPr>
          <p:cNvPr id="118" name="Google Shape;118;p2" title="D5C8A3AC-745C-41A3-9722-9211301CBD2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4615" y="3395287"/>
            <a:ext cx="3496449" cy="3496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 title="9DD3D200-ED91-4901-A36B-35D21404A3D6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5450" y="3313075"/>
            <a:ext cx="3583342" cy="35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" title="IMG_7743.jpg"/>
          <p:cNvPicPr preferRelativeResize="0"/>
          <p:nvPr/>
        </p:nvPicPr>
        <p:blipFill rotWithShape="1">
          <a:blip r:embed="rId6">
            <a:alphaModFix/>
          </a:blip>
          <a:srcRect b="11797" l="0" r="0" t="11797"/>
          <a:stretch/>
        </p:blipFill>
        <p:spPr>
          <a:xfrm>
            <a:off x="12532925" y="3395288"/>
            <a:ext cx="3432058" cy="3496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129" name="Google Shape;129;p3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cxnSp>
        <p:nvCxnSpPr>
          <p:cNvPr id="130" name="Google Shape;130;p3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1" name="Google Shape;131;p3"/>
          <p:cNvGrpSpPr/>
          <p:nvPr/>
        </p:nvGrpSpPr>
        <p:grpSpPr>
          <a:xfrm>
            <a:off x="1028700" y="2670127"/>
            <a:ext cx="6542107" cy="7207646"/>
            <a:chOff x="0" y="-57150"/>
            <a:chExt cx="1723024" cy="1898310"/>
          </a:xfrm>
        </p:grpSpPr>
        <p:sp>
          <p:nvSpPr>
            <p:cNvPr id="132" name="Google Shape;132;p3"/>
            <p:cNvSpPr/>
            <p:nvPr/>
          </p:nvSpPr>
          <p:spPr>
            <a:xfrm>
              <a:off x="0" y="0"/>
              <a:ext cx="1723024" cy="1841160"/>
            </a:xfrm>
            <a:custGeom>
              <a:rect b="b" l="l" r="r" t="t"/>
              <a:pathLst>
                <a:path extrusionOk="0" h="1841160" w="1723024">
                  <a:moveTo>
                    <a:pt x="60353" y="0"/>
                  </a:moveTo>
                  <a:lnTo>
                    <a:pt x="1662671" y="0"/>
                  </a:lnTo>
                  <a:cubicBezTo>
                    <a:pt x="1696003" y="0"/>
                    <a:pt x="1723024" y="27021"/>
                    <a:pt x="1723024" y="60353"/>
                  </a:cubicBezTo>
                  <a:lnTo>
                    <a:pt x="1723024" y="1780807"/>
                  </a:lnTo>
                  <a:cubicBezTo>
                    <a:pt x="1723024" y="1796813"/>
                    <a:pt x="1716666" y="1812165"/>
                    <a:pt x="1705347" y="1823483"/>
                  </a:cubicBezTo>
                  <a:cubicBezTo>
                    <a:pt x="1694029" y="1834801"/>
                    <a:pt x="1678678" y="1841160"/>
                    <a:pt x="1662671" y="1841160"/>
                  </a:cubicBezTo>
                  <a:lnTo>
                    <a:pt x="60353" y="1841160"/>
                  </a:lnTo>
                  <a:cubicBezTo>
                    <a:pt x="44347" y="1841160"/>
                    <a:pt x="28996" y="1834801"/>
                    <a:pt x="17677" y="1823483"/>
                  </a:cubicBezTo>
                  <a:cubicBezTo>
                    <a:pt x="6359" y="1812165"/>
                    <a:pt x="0" y="1796813"/>
                    <a:pt x="0" y="1780807"/>
                  </a:cubicBezTo>
                  <a:lnTo>
                    <a:pt x="0" y="60353"/>
                  </a:lnTo>
                  <a:cubicBezTo>
                    <a:pt x="0" y="44347"/>
                    <a:pt x="6359" y="28996"/>
                    <a:pt x="17677" y="17677"/>
                  </a:cubicBezTo>
                  <a:cubicBezTo>
                    <a:pt x="28996" y="6359"/>
                    <a:pt x="44347" y="0"/>
                    <a:pt x="60353" y="0"/>
                  </a:cubicBezTo>
                  <a:close/>
                </a:path>
              </a:pathLst>
            </a:custGeom>
            <a:solidFill>
              <a:srgbClr val="BCAC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3"/>
            <p:cNvSpPr txBox="1"/>
            <p:nvPr/>
          </p:nvSpPr>
          <p:spPr>
            <a:xfrm>
              <a:off x="0" y="-57150"/>
              <a:ext cx="1723024" cy="18983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Problema o dolor</a:t>
              </a:r>
              <a:endParaRPr b="1"/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sng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La distribuidora depende de catálogos en redes sociales y Google Drive. La barrera Tecnológica dificulta las ventas, actualización de inventario y genera desconfianza a los clientes que compran en la distribuidora.</a:t>
              </a:r>
              <a:endParaRPr/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0370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grpSp>
        <p:nvGrpSpPr>
          <p:cNvPr id="134" name="Google Shape;134;p3"/>
          <p:cNvGrpSpPr/>
          <p:nvPr/>
        </p:nvGrpSpPr>
        <p:grpSpPr>
          <a:xfrm>
            <a:off x="8175830" y="5594915"/>
            <a:ext cx="1729835" cy="1154557"/>
            <a:chOff x="0" y="71"/>
            <a:chExt cx="2306447" cy="1539409"/>
          </a:xfrm>
        </p:grpSpPr>
        <p:sp>
          <p:nvSpPr>
            <p:cNvPr id="135" name="Google Shape;135;p3"/>
            <p:cNvSpPr/>
            <p:nvPr/>
          </p:nvSpPr>
          <p:spPr>
            <a:xfrm>
              <a:off x="12700" y="12700"/>
              <a:ext cx="2281174" cy="1514094"/>
            </a:xfrm>
            <a:custGeom>
              <a:rect b="b" l="l" r="r" t="t"/>
              <a:pathLst>
                <a:path extrusionOk="0" h="1514094" w="2281174">
                  <a:moveTo>
                    <a:pt x="0" y="378587"/>
                  </a:moveTo>
                  <a:lnTo>
                    <a:pt x="1519809" y="378587"/>
                  </a:lnTo>
                  <a:lnTo>
                    <a:pt x="1519809" y="0"/>
                  </a:lnTo>
                  <a:lnTo>
                    <a:pt x="2281174" y="757047"/>
                  </a:lnTo>
                  <a:lnTo>
                    <a:pt x="1519809" y="1514094"/>
                  </a:lnTo>
                  <a:lnTo>
                    <a:pt x="1519809" y="1135634"/>
                  </a:lnTo>
                  <a:lnTo>
                    <a:pt x="0" y="1135634"/>
                  </a:lnTo>
                  <a:close/>
                </a:path>
              </a:pathLst>
            </a:custGeom>
            <a:solidFill>
              <a:srgbClr val="4472C4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36" name="Google Shape;136;p3"/>
            <p:cNvSpPr/>
            <p:nvPr/>
          </p:nvSpPr>
          <p:spPr>
            <a:xfrm>
              <a:off x="0" y="71"/>
              <a:ext cx="2306447" cy="1539409"/>
            </a:xfrm>
            <a:custGeom>
              <a:rect b="b" l="l" r="r" t="t"/>
              <a:pathLst>
                <a:path extrusionOk="0" h="1539409" w="2306447">
                  <a:moveTo>
                    <a:pt x="12700" y="378516"/>
                  </a:moveTo>
                  <a:lnTo>
                    <a:pt x="1532509" y="378516"/>
                  </a:lnTo>
                  <a:lnTo>
                    <a:pt x="1532509" y="391216"/>
                  </a:lnTo>
                  <a:lnTo>
                    <a:pt x="1519809" y="391216"/>
                  </a:lnTo>
                  <a:lnTo>
                    <a:pt x="1519809" y="12629"/>
                  </a:lnTo>
                  <a:cubicBezTo>
                    <a:pt x="1519809" y="7549"/>
                    <a:pt x="1522857" y="2850"/>
                    <a:pt x="1527683" y="945"/>
                  </a:cubicBezTo>
                  <a:cubicBezTo>
                    <a:pt x="1532509" y="-960"/>
                    <a:pt x="1537843" y="56"/>
                    <a:pt x="1541526" y="3612"/>
                  </a:cubicBezTo>
                  <a:lnTo>
                    <a:pt x="2302764" y="760659"/>
                  </a:lnTo>
                  <a:cubicBezTo>
                    <a:pt x="2305177" y="763072"/>
                    <a:pt x="2306447" y="766247"/>
                    <a:pt x="2306447" y="769676"/>
                  </a:cubicBezTo>
                  <a:cubicBezTo>
                    <a:pt x="2306447" y="773105"/>
                    <a:pt x="2305050" y="776280"/>
                    <a:pt x="2302764" y="778693"/>
                  </a:cubicBezTo>
                  <a:lnTo>
                    <a:pt x="1541399" y="1535740"/>
                  </a:lnTo>
                  <a:cubicBezTo>
                    <a:pt x="1537716" y="1539296"/>
                    <a:pt x="1532255" y="1540439"/>
                    <a:pt x="1527556" y="1538407"/>
                  </a:cubicBezTo>
                  <a:cubicBezTo>
                    <a:pt x="1522857" y="1536375"/>
                    <a:pt x="1519682" y="1531803"/>
                    <a:pt x="1519682" y="1526723"/>
                  </a:cubicBezTo>
                  <a:lnTo>
                    <a:pt x="1519682" y="1148263"/>
                  </a:lnTo>
                  <a:lnTo>
                    <a:pt x="1532382" y="1148263"/>
                  </a:lnTo>
                  <a:lnTo>
                    <a:pt x="1532382" y="1160963"/>
                  </a:lnTo>
                  <a:lnTo>
                    <a:pt x="12700" y="1160963"/>
                  </a:lnTo>
                  <a:cubicBezTo>
                    <a:pt x="5715" y="1160963"/>
                    <a:pt x="0" y="1155248"/>
                    <a:pt x="0" y="1148263"/>
                  </a:cubicBezTo>
                  <a:lnTo>
                    <a:pt x="0" y="391216"/>
                  </a:lnTo>
                  <a:cubicBezTo>
                    <a:pt x="0" y="384231"/>
                    <a:pt x="5715" y="378516"/>
                    <a:pt x="12700" y="378516"/>
                  </a:cubicBezTo>
                  <a:moveTo>
                    <a:pt x="12700" y="403916"/>
                  </a:moveTo>
                  <a:lnTo>
                    <a:pt x="12700" y="391216"/>
                  </a:lnTo>
                  <a:lnTo>
                    <a:pt x="25400" y="391216"/>
                  </a:lnTo>
                  <a:lnTo>
                    <a:pt x="25400" y="1148263"/>
                  </a:lnTo>
                  <a:lnTo>
                    <a:pt x="12700" y="1148263"/>
                  </a:lnTo>
                  <a:lnTo>
                    <a:pt x="12700" y="1135563"/>
                  </a:lnTo>
                  <a:lnTo>
                    <a:pt x="1532509" y="1135563"/>
                  </a:lnTo>
                  <a:cubicBezTo>
                    <a:pt x="1539494" y="1135563"/>
                    <a:pt x="1545209" y="1141278"/>
                    <a:pt x="1545209" y="1148263"/>
                  </a:cubicBezTo>
                  <a:lnTo>
                    <a:pt x="1545209" y="1526850"/>
                  </a:lnTo>
                  <a:lnTo>
                    <a:pt x="1532509" y="1526850"/>
                  </a:lnTo>
                  <a:lnTo>
                    <a:pt x="1523492" y="1517833"/>
                  </a:lnTo>
                  <a:lnTo>
                    <a:pt x="2284857" y="760659"/>
                  </a:lnTo>
                  <a:lnTo>
                    <a:pt x="2293874" y="769676"/>
                  </a:lnTo>
                  <a:lnTo>
                    <a:pt x="2284857" y="778693"/>
                  </a:lnTo>
                  <a:lnTo>
                    <a:pt x="1523492" y="21646"/>
                  </a:lnTo>
                  <a:lnTo>
                    <a:pt x="1532509" y="12629"/>
                  </a:lnTo>
                  <a:lnTo>
                    <a:pt x="1545209" y="12629"/>
                  </a:lnTo>
                  <a:lnTo>
                    <a:pt x="1545209" y="391216"/>
                  </a:lnTo>
                  <a:cubicBezTo>
                    <a:pt x="1545209" y="398201"/>
                    <a:pt x="1539494" y="403916"/>
                    <a:pt x="1532509" y="403916"/>
                  </a:cubicBezTo>
                  <a:lnTo>
                    <a:pt x="12700" y="403916"/>
                  </a:ln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" name="Google Shape;137;p3"/>
          <p:cNvGrpSpPr/>
          <p:nvPr/>
        </p:nvGrpSpPr>
        <p:grpSpPr>
          <a:xfrm>
            <a:off x="10717192" y="3079354"/>
            <a:ext cx="6542107" cy="6798419"/>
            <a:chOff x="0" y="-57150"/>
            <a:chExt cx="1723024" cy="1790530"/>
          </a:xfrm>
        </p:grpSpPr>
        <p:sp>
          <p:nvSpPr>
            <p:cNvPr id="138" name="Google Shape;138;p3"/>
            <p:cNvSpPr/>
            <p:nvPr/>
          </p:nvSpPr>
          <p:spPr>
            <a:xfrm>
              <a:off x="0" y="0"/>
              <a:ext cx="1723024" cy="1733380"/>
            </a:xfrm>
            <a:custGeom>
              <a:rect b="b" l="l" r="r" t="t"/>
              <a:pathLst>
                <a:path extrusionOk="0" h="1733380" w="1723024">
                  <a:moveTo>
                    <a:pt x="60353" y="0"/>
                  </a:moveTo>
                  <a:lnTo>
                    <a:pt x="1662671" y="0"/>
                  </a:lnTo>
                  <a:cubicBezTo>
                    <a:pt x="1696003" y="0"/>
                    <a:pt x="1723024" y="27021"/>
                    <a:pt x="1723024" y="60353"/>
                  </a:cubicBezTo>
                  <a:lnTo>
                    <a:pt x="1723024" y="1673027"/>
                  </a:lnTo>
                  <a:cubicBezTo>
                    <a:pt x="1723024" y="1689033"/>
                    <a:pt x="1716666" y="1704385"/>
                    <a:pt x="1705347" y="1715703"/>
                  </a:cubicBezTo>
                  <a:cubicBezTo>
                    <a:pt x="1694029" y="1727021"/>
                    <a:pt x="1678678" y="1733380"/>
                    <a:pt x="1662671" y="1733380"/>
                  </a:cubicBezTo>
                  <a:lnTo>
                    <a:pt x="60353" y="1733380"/>
                  </a:lnTo>
                  <a:cubicBezTo>
                    <a:pt x="44347" y="1733380"/>
                    <a:pt x="28996" y="1727021"/>
                    <a:pt x="17677" y="1715703"/>
                  </a:cubicBezTo>
                  <a:cubicBezTo>
                    <a:pt x="6359" y="1704385"/>
                    <a:pt x="0" y="1689033"/>
                    <a:pt x="0" y="1673027"/>
                  </a:cubicBezTo>
                  <a:lnTo>
                    <a:pt x="0" y="60353"/>
                  </a:lnTo>
                  <a:cubicBezTo>
                    <a:pt x="0" y="44347"/>
                    <a:pt x="6359" y="28996"/>
                    <a:pt x="17677" y="17677"/>
                  </a:cubicBezTo>
                  <a:cubicBezTo>
                    <a:pt x="28996" y="6359"/>
                    <a:pt x="44347" y="0"/>
                    <a:pt x="60353" y="0"/>
                  </a:cubicBezTo>
                  <a:close/>
                </a:path>
              </a:pathLst>
            </a:custGeom>
            <a:solidFill>
              <a:srgbClr val="BCACF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3"/>
            <p:cNvSpPr txBox="1"/>
            <p:nvPr/>
          </p:nvSpPr>
          <p:spPr>
            <a:xfrm>
              <a:off x="0" y="-57150"/>
              <a:ext cx="1723024" cy="17905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699" u="sng" cap="none" strike="noStrike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Propuesta de solución</a:t>
              </a:r>
              <a:endParaRPr b="1"/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sng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699" u="none" cap="none" strike="noStrike">
                  <a:solidFill>
                    <a:srgbClr val="FFFFFF"/>
                  </a:solidFill>
                  <a:latin typeface="Rubik"/>
                  <a:ea typeface="Rubik"/>
                  <a:cs typeface="Rubik"/>
                  <a:sym typeface="Rubik"/>
                </a:rPr>
                <a:t>Desarrollo de una plataforma web B2B con catálogo dinámico, carrito de compras, verificación por correo, administración de productos y pedidos, reportes y panel de control.</a:t>
              </a:r>
              <a:endParaRPr/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  <a:p>
              <a:pPr indent="0" lvl="0" marL="0" marR="0" rtl="0" algn="ctr">
                <a:lnSpc>
                  <a:spcPct val="14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699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40" name="Google Shape;140;p3"/>
          <p:cNvSpPr/>
          <p:nvPr/>
        </p:nvSpPr>
        <p:spPr>
          <a:xfrm>
            <a:off x="3576577" y="8104003"/>
            <a:ext cx="1446354" cy="1446354"/>
          </a:xfrm>
          <a:custGeom>
            <a:rect b="b" l="l" r="r" t="t"/>
            <a:pathLst>
              <a:path extrusionOk="0" h="1446354" w="1446354">
                <a:moveTo>
                  <a:pt x="0" y="0"/>
                </a:moveTo>
                <a:lnTo>
                  <a:pt x="1446354" y="0"/>
                </a:lnTo>
                <a:lnTo>
                  <a:pt x="1446354" y="1446353"/>
                </a:lnTo>
                <a:lnTo>
                  <a:pt x="0" y="1446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p3"/>
          <p:cNvSpPr/>
          <p:nvPr/>
        </p:nvSpPr>
        <p:spPr>
          <a:xfrm>
            <a:off x="12918082" y="7809791"/>
            <a:ext cx="2373082" cy="1839138"/>
          </a:xfrm>
          <a:custGeom>
            <a:rect b="b" l="l" r="r" t="t"/>
            <a:pathLst>
              <a:path extrusionOk="0" h="1839138" w="2373082">
                <a:moveTo>
                  <a:pt x="0" y="0"/>
                </a:moveTo>
                <a:lnTo>
                  <a:pt x="2373082" y="0"/>
                </a:lnTo>
                <a:lnTo>
                  <a:pt x="2373082" y="1839138"/>
                </a:lnTo>
                <a:lnTo>
                  <a:pt x="0" y="18391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2" name="Google Shape;142;p3"/>
          <p:cNvSpPr txBox="1"/>
          <p:nvPr/>
        </p:nvSpPr>
        <p:spPr>
          <a:xfrm>
            <a:off x="91425" y="1627673"/>
            <a:ext cx="18105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DESCRIPCIÓN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3" name="Google Shape;143;p3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152" name="Google Shape;152;p4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cxnSp>
        <p:nvCxnSpPr>
          <p:cNvPr id="153" name="Google Shape;153;p4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4"/>
          <p:cNvGrpSpPr/>
          <p:nvPr/>
        </p:nvGrpSpPr>
        <p:grpSpPr>
          <a:xfrm>
            <a:off x="2571467" y="3194718"/>
            <a:ext cx="13630975" cy="1696694"/>
            <a:chOff x="0" y="-47625"/>
            <a:chExt cx="3590051" cy="446866"/>
          </a:xfrm>
        </p:grpSpPr>
        <p:sp>
          <p:nvSpPr>
            <p:cNvPr id="155" name="Google Shape;155;p4"/>
            <p:cNvSpPr/>
            <p:nvPr/>
          </p:nvSpPr>
          <p:spPr>
            <a:xfrm>
              <a:off x="0" y="0"/>
              <a:ext cx="3590051" cy="399241"/>
            </a:xfrm>
            <a:custGeom>
              <a:rect b="b" l="l" r="r" t="t"/>
              <a:pathLst>
                <a:path extrusionOk="0" h="399241" w="3590051">
                  <a:moveTo>
                    <a:pt x="28966" y="0"/>
                  </a:moveTo>
                  <a:lnTo>
                    <a:pt x="3561085" y="0"/>
                  </a:lnTo>
                  <a:cubicBezTo>
                    <a:pt x="3568767" y="0"/>
                    <a:pt x="3576135" y="3052"/>
                    <a:pt x="3581567" y="8484"/>
                  </a:cubicBezTo>
                  <a:cubicBezTo>
                    <a:pt x="3586999" y="13916"/>
                    <a:pt x="3590051" y="21284"/>
                    <a:pt x="3590051" y="28966"/>
                  </a:cubicBezTo>
                  <a:lnTo>
                    <a:pt x="3590051" y="370275"/>
                  </a:lnTo>
                  <a:cubicBezTo>
                    <a:pt x="3590051" y="377957"/>
                    <a:pt x="3586999" y="385325"/>
                    <a:pt x="3581567" y="390757"/>
                  </a:cubicBezTo>
                  <a:cubicBezTo>
                    <a:pt x="3576135" y="396189"/>
                    <a:pt x="3568767" y="399241"/>
                    <a:pt x="3561085" y="399241"/>
                  </a:cubicBezTo>
                  <a:lnTo>
                    <a:pt x="28966" y="399241"/>
                  </a:lnTo>
                  <a:cubicBezTo>
                    <a:pt x="21284" y="399241"/>
                    <a:pt x="13916" y="396189"/>
                    <a:pt x="8484" y="390757"/>
                  </a:cubicBezTo>
                  <a:cubicBezTo>
                    <a:pt x="3052" y="385325"/>
                    <a:pt x="0" y="377957"/>
                    <a:pt x="0" y="370275"/>
                  </a:cubicBezTo>
                  <a:lnTo>
                    <a:pt x="0" y="28966"/>
                  </a:lnTo>
                  <a:cubicBezTo>
                    <a:pt x="0" y="21284"/>
                    <a:pt x="3052" y="13916"/>
                    <a:pt x="8484" y="8484"/>
                  </a:cubicBezTo>
                  <a:cubicBezTo>
                    <a:pt x="13916" y="3052"/>
                    <a:pt x="21284" y="0"/>
                    <a:pt x="28966" y="0"/>
                  </a:cubicBezTo>
                  <a:close/>
                </a:path>
              </a:pathLst>
            </a:custGeom>
            <a:solidFill>
              <a:srgbClr val="FFF2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4"/>
            <p:cNvSpPr txBox="1"/>
            <p:nvPr/>
          </p:nvSpPr>
          <p:spPr>
            <a:xfrm>
              <a:off x="0" y="-47625"/>
              <a:ext cx="3590051" cy="446866"/>
            </a:xfrm>
            <a:prstGeom prst="rect">
              <a:avLst/>
            </a:prstGeom>
            <a:solidFill>
              <a:srgbClr val="FFF2CC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Desarrollar una plataforma web B2B que optimice el proceso de ventas de Distribuidora Talagante.</a:t>
              </a:r>
              <a:endParaRPr/>
            </a:p>
          </p:txBody>
        </p:sp>
      </p:grpSp>
      <p:grpSp>
        <p:nvGrpSpPr>
          <p:cNvPr id="157" name="Google Shape;157;p4"/>
          <p:cNvGrpSpPr/>
          <p:nvPr/>
        </p:nvGrpSpPr>
        <p:grpSpPr>
          <a:xfrm>
            <a:off x="2571467" y="6960814"/>
            <a:ext cx="13630975" cy="2570810"/>
            <a:chOff x="0" y="-47625"/>
            <a:chExt cx="3590051" cy="677086"/>
          </a:xfrm>
        </p:grpSpPr>
        <p:sp>
          <p:nvSpPr>
            <p:cNvPr id="158" name="Google Shape;158;p4"/>
            <p:cNvSpPr/>
            <p:nvPr/>
          </p:nvSpPr>
          <p:spPr>
            <a:xfrm>
              <a:off x="0" y="0"/>
              <a:ext cx="3590051" cy="629461"/>
            </a:xfrm>
            <a:custGeom>
              <a:rect b="b" l="l" r="r" t="t"/>
              <a:pathLst>
                <a:path extrusionOk="0" h="629461" w="3590051">
                  <a:moveTo>
                    <a:pt x="28966" y="0"/>
                  </a:moveTo>
                  <a:lnTo>
                    <a:pt x="3561085" y="0"/>
                  </a:lnTo>
                  <a:cubicBezTo>
                    <a:pt x="3568767" y="0"/>
                    <a:pt x="3576135" y="3052"/>
                    <a:pt x="3581567" y="8484"/>
                  </a:cubicBezTo>
                  <a:cubicBezTo>
                    <a:pt x="3586999" y="13916"/>
                    <a:pt x="3590051" y="21284"/>
                    <a:pt x="3590051" y="28966"/>
                  </a:cubicBezTo>
                  <a:lnTo>
                    <a:pt x="3590051" y="600494"/>
                  </a:lnTo>
                  <a:cubicBezTo>
                    <a:pt x="3590051" y="608177"/>
                    <a:pt x="3586999" y="615544"/>
                    <a:pt x="3581567" y="620977"/>
                  </a:cubicBezTo>
                  <a:cubicBezTo>
                    <a:pt x="3576135" y="626409"/>
                    <a:pt x="3568767" y="629461"/>
                    <a:pt x="3561085" y="629461"/>
                  </a:cubicBezTo>
                  <a:lnTo>
                    <a:pt x="28966" y="629461"/>
                  </a:lnTo>
                  <a:cubicBezTo>
                    <a:pt x="21284" y="629461"/>
                    <a:pt x="13916" y="626409"/>
                    <a:pt x="8484" y="620977"/>
                  </a:cubicBezTo>
                  <a:cubicBezTo>
                    <a:pt x="3052" y="615544"/>
                    <a:pt x="0" y="608177"/>
                    <a:pt x="0" y="600494"/>
                  </a:cubicBezTo>
                  <a:lnTo>
                    <a:pt x="0" y="28966"/>
                  </a:lnTo>
                  <a:cubicBezTo>
                    <a:pt x="0" y="21284"/>
                    <a:pt x="3052" y="13916"/>
                    <a:pt x="8484" y="8484"/>
                  </a:cubicBezTo>
                  <a:cubicBezTo>
                    <a:pt x="13916" y="3052"/>
                    <a:pt x="21284" y="0"/>
                    <a:pt x="28966" y="0"/>
                  </a:cubicBezTo>
                  <a:close/>
                </a:path>
              </a:pathLst>
            </a:custGeom>
            <a:solidFill>
              <a:srgbClr val="F5F7F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4"/>
            <p:cNvSpPr txBox="1"/>
            <p:nvPr/>
          </p:nvSpPr>
          <p:spPr>
            <a:xfrm>
              <a:off x="0" y="-47625"/>
              <a:ext cx="3590051" cy="677086"/>
            </a:xfrm>
            <a:prstGeom prst="rect">
              <a:avLst/>
            </a:prstGeom>
            <a:solidFill>
              <a:srgbClr val="FFE599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15898" lvl="1" marL="431797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Char char="•"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Gestionar productos, inventario y pedidos en tiempo real.</a:t>
              </a:r>
              <a:endParaRPr/>
            </a:p>
            <a:p>
              <a:pPr indent="-215898" lvl="1" marL="431797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Char char="•"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Implementar verificación vía email para mayor seguridad.</a:t>
              </a:r>
              <a:endParaRPr/>
            </a:p>
            <a:p>
              <a:pPr indent="-215898" lvl="1" marL="431797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Char char="•"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Mejorar la experiencia de los usuarios finales (clientes de la distribuidora) con interfaz responsiva.</a:t>
              </a:r>
              <a:endParaRPr/>
            </a:p>
            <a:p>
              <a:pPr indent="-215898" lvl="1" marL="431797" marR="0" rtl="0" algn="l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99"/>
                <a:buFont typeface="Arial"/>
                <a:buChar char="•"/>
              </a:pPr>
              <a:r>
                <a:rPr b="0" i="0" lang="en-US" sz="1999" u="none" cap="none" strike="noStrike">
                  <a:solidFill>
                    <a:srgbClr val="000000"/>
                  </a:solidFill>
                  <a:latin typeface="Rubik"/>
                  <a:ea typeface="Rubik"/>
                  <a:cs typeface="Rubik"/>
                  <a:sym typeface="Rubik"/>
                </a:rPr>
                <a:t>Mejorar la relación del cliente a través de una plataforma amigable que le permita gestionar sus productos y servicios.</a:t>
              </a:r>
              <a:endParaRPr/>
            </a:p>
            <a:p>
              <a:pPr indent="0" lvl="0" marL="0" marR="0" rtl="0" algn="ctr">
                <a:lnSpc>
                  <a:spcPct val="14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999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endParaRPr>
            </a:p>
          </p:txBody>
        </p:sp>
      </p:grpSp>
      <p:sp>
        <p:nvSpPr>
          <p:cNvPr id="160" name="Google Shape;160;p4"/>
          <p:cNvSpPr txBox="1"/>
          <p:nvPr/>
        </p:nvSpPr>
        <p:spPr>
          <a:xfrm>
            <a:off x="91425" y="2007856"/>
            <a:ext cx="18105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Objetivo General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91425" y="5639571"/>
            <a:ext cx="18105148" cy="992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171" name="Google Shape;171;p5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cxnSp>
        <p:nvCxnSpPr>
          <p:cNvPr id="172" name="Google Shape;172;p5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73" name="Google Shape;173;p5"/>
          <p:cNvGrpSpPr/>
          <p:nvPr/>
        </p:nvGrpSpPr>
        <p:grpSpPr>
          <a:xfrm>
            <a:off x="872219" y="3240323"/>
            <a:ext cx="7481134" cy="6297263"/>
            <a:chOff x="0" y="-66675"/>
            <a:chExt cx="9974845" cy="8396351"/>
          </a:xfrm>
        </p:grpSpPr>
        <p:sp>
          <p:nvSpPr>
            <p:cNvPr id="174" name="Google Shape;174;p5"/>
            <p:cNvSpPr/>
            <p:nvPr/>
          </p:nvSpPr>
          <p:spPr>
            <a:xfrm>
              <a:off x="14556" y="12700"/>
              <a:ext cx="9945742" cy="8304276"/>
            </a:xfrm>
            <a:custGeom>
              <a:rect b="b" l="l" r="r" t="t"/>
              <a:pathLst>
                <a:path extrusionOk="0" h="8304276" w="9945742">
                  <a:moveTo>
                    <a:pt x="0" y="1384046"/>
                  </a:moveTo>
                  <a:cubicBezTo>
                    <a:pt x="0" y="619633"/>
                    <a:pt x="710337" y="0"/>
                    <a:pt x="1586614" y="0"/>
                  </a:cubicBezTo>
                  <a:lnTo>
                    <a:pt x="8359128" y="0"/>
                  </a:lnTo>
                  <a:cubicBezTo>
                    <a:pt x="9235406" y="0"/>
                    <a:pt x="9945742" y="619633"/>
                    <a:pt x="9945742" y="1384046"/>
                  </a:cubicBezTo>
                  <a:lnTo>
                    <a:pt x="9945742" y="6920230"/>
                  </a:lnTo>
                  <a:cubicBezTo>
                    <a:pt x="9945742" y="7684643"/>
                    <a:pt x="9235406" y="8304276"/>
                    <a:pt x="8359128" y="8304276"/>
                  </a:cubicBezTo>
                  <a:lnTo>
                    <a:pt x="1586614" y="8304276"/>
                  </a:lnTo>
                  <a:cubicBezTo>
                    <a:pt x="710337" y="8304276"/>
                    <a:pt x="0" y="7684516"/>
                    <a:pt x="0" y="6920230"/>
                  </a:cubicBezTo>
                  <a:close/>
                </a:path>
              </a:pathLst>
            </a:custGeom>
            <a:solidFill>
              <a:srgbClr val="8C52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0" y="0"/>
              <a:ext cx="9974845" cy="8329676"/>
            </a:xfrm>
            <a:custGeom>
              <a:rect b="b" l="l" r="r" t="t"/>
              <a:pathLst>
                <a:path extrusionOk="0" h="8329676" w="9974845">
                  <a:moveTo>
                    <a:pt x="0" y="1396746"/>
                  </a:moveTo>
                  <a:cubicBezTo>
                    <a:pt x="0" y="625348"/>
                    <a:pt x="716888" y="0"/>
                    <a:pt x="1601170" y="0"/>
                  </a:cubicBezTo>
                  <a:lnTo>
                    <a:pt x="8373684" y="0"/>
                  </a:lnTo>
                  <a:lnTo>
                    <a:pt x="8373684" y="12700"/>
                  </a:lnTo>
                  <a:lnTo>
                    <a:pt x="8373684" y="0"/>
                  </a:lnTo>
                  <a:lnTo>
                    <a:pt x="8373684" y="12700"/>
                  </a:lnTo>
                  <a:lnTo>
                    <a:pt x="8373684" y="0"/>
                  </a:lnTo>
                  <a:cubicBezTo>
                    <a:pt x="9257967" y="0"/>
                    <a:pt x="9974845" y="625348"/>
                    <a:pt x="9974845" y="1396746"/>
                  </a:cubicBezTo>
                  <a:lnTo>
                    <a:pt x="9960298" y="1396746"/>
                  </a:lnTo>
                  <a:lnTo>
                    <a:pt x="9974845" y="1396746"/>
                  </a:lnTo>
                  <a:lnTo>
                    <a:pt x="9974845" y="6932930"/>
                  </a:lnTo>
                  <a:lnTo>
                    <a:pt x="9960298" y="6932930"/>
                  </a:lnTo>
                  <a:lnTo>
                    <a:pt x="9974845" y="6932930"/>
                  </a:lnTo>
                  <a:cubicBezTo>
                    <a:pt x="9974845" y="7704328"/>
                    <a:pt x="9257967" y="8329676"/>
                    <a:pt x="8373684" y="8329676"/>
                  </a:cubicBezTo>
                  <a:lnTo>
                    <a:pt x="8373684" y="8316976"/>
                  </a:lnTo>
                  <a:lnTo>
                    <a:pt x="8373684" y="8329676"/>
                  </a:lnTo>
                  <a:lnTo>
                    <a:pt x="1601170" y="8329676"/>
                  </a:lnTo>
                  <a:lnTo>
                    <a:pt x="1601170" y="8316976"/>
                  </a:lnTo>
                  <a:lnTo>
                    <a:pt x="1601170" y="8329676"/>
                  </a:lnTo>
                  <a:cubicBezTo>
                    <a:pt x="716888" y="8329676"/>
                    <a:pt x="0" y="7704328"/>
                    <a:pt x="0" y="6932930"/>
                  </a:cubicBezTo>
                  <a:lnTo>
                    <a:pt x="0" y="1396746"/>
                  </a:lnTo>
                  <a:lnTo>
                    <a:pt x="14556" y="1396746"/>
                  </a:lnTo>
                  <a:lnTo>
                    <a:pt x="0" y="1396746"/>
                  </a:lnTo>
                  <a:moveTo>
                    <a:pt x="29112" y="1396746"/>
                  </a:moveTo>
                  <a:lnTo>
                    <a:pt x="29112" y="6932930"/>
                  </a:lnTo>
                  <a:lnTo>
                    <a:pt x="14556" y="6932930"/>
                  </a:lnTo>
                  <a:lnTo>
                    <a:pt x="29112" y="6932930"/>
                  </a:lnTo>
                  <a:cubicBezTo>
                    <a:pt x="29112" y="7690358"/>
                    <a:pt x="732899" y="8304276"/>
                    <a:pt x="1601170" y="8304276"/>
                  </a:cubicBezTo>
                  <a:lnTo>
                    <a:pt x="8373684" y="8304276"/>
                  </a:lnTo>
                  <a:cubicBezTo>
                    <a:pt x="9241810" y="8304276"/>
                    <a:pt x="9945743" y="7690231"/>
                    <a:pt x="9945743" y="6932930"/>
                  </a:cubicBezTo>
                  <a:lnTo>
                    <a:pt x="9945743" y="1396746"/>
                  </a:lnTo>
                  <a:cubicBezTo>
                    <a:pt x="9945743" y="639445"/>
                    <a:pt x="9241809" y="25400"/>
                    <a:pt x="8373684" y="25400"/>
                  </a:cubicBezTo>
                  <a:lnTo>
                    <a:pt x="1601170" y="25400"/>
                  </a:lnTo>
                  <a:lnTo>
                    <a:pt x="1601170" y="12700"/>
                  </a:lnTo>
                  <a:lnTo>
                    <a:pt x="1601170" y="25400"/>
                  </a:lnTo>
                  <a:cubicBezTo>
                    <a:pt x="732899" y="25400"/>
                    <a:pt x="29112" y="639445"/>
                    <a:pt x="29112" y="1396746"/>
                  </a:cubicBez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0" y="-66675"/>
              <a:ext cx="9974784" cy="8396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Alcances: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Plataforma web funcional desarrollada en Django.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Módulo administrador para gestión de productos y pedidos.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Sistema de autenticación y verificación por email.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Base de datos PostgreSQL desplegada en Render.</a:t>
              </a:r>
              <a:endParaRPr/>
            </a:p>
          </p:txBody>
        </p:sp>
      </p:grpSp>
      <p:grpSp>
        <p:nvGrpSpPr>
          <p:cNvPr id="177" name="Google Shape;177;p5"/>
          <p:cNvGrpSpPr/>
          <p:nvPr/>
        </p:nvGrpSpPr>
        <p:grpSpPr>
          <a:xfrm>
            <a:off x="9797901" y="3240323"/>
            <a:ext cx="7461399" cy="6297263"/>
            <a:chOff x="0" y="-66675"/>
            <a:chExt cx="9948532" cy="8396351"/>
          </a:xfrm>
        </p:grpSpPr>
        <p:sp>
          <p:nvSpPr>
            <p:cNvPr id="178" name="Google Shape;178;p5"/>
            <p:cNvSpPr/>
            <p:nvPr/>
          </p:nvSpPr>
          <p:spPr>
            <a:xfrm>
              <a:off x="16577" y="12700"/>
              <a:ext cx="9915295" cy="8304276"/>
            </a:xfrm>
            <a:custGeom>
              <a:rect b="b" l="l" r="r" t="t"/>
              <a:pathLst>
                <a:path extrusionOk="0" h="8304276" w="9915295">
                  <a:moveTo>
                    <a:pt x="0" y="1266444"/>
                  </a:moveTo>
                  <a:cubicBezTo>
                    <a:pt x="0" y="567055"/>
                    <a:pt x="739826" y="0"/>
                    <a:pt x="1652549" y="0"/>
                  </a:cubicBezTo>
                  <a:lnTo>
                    <a:pt x="8262746" y="0"/>
                  </a:lnTo>
                  <a:cubicBezTo>
                    <a:pt x="9175469" y="0"/>
                    <a:pt x="9915295" y="567055"/>
                    <a:pt x="9915295" y="1266444"/>
                  </a:cubicBezTo>
                  <a:lnTo>
                    <a:pt x="9915295" y="7037832"/>
                  </a:lnTo>
                  <a:cubicBezTo>
                    <a:pt x="9915295" y="7737221"/>
                    <a:pt x="9175469" y="8304276"/>
                    <a:pt x="8262746" y="8304276"/>
                  </a:cubicBezTo>
                  <a:lnTo>
                    <a:pt x="1652549" y="8304276"/>
                  </a:lnTo>
                  <a:cubicBezTo>
                    <a:pt x="739826" y="8304276"/>
                    <a:pt x="0" y="7737221"/>
                    <a:pt x="0" y="7037832"/>
                  </a:cubicBezTo>
                  <a:close/>
                </a:path>
              </a:pathLst>
            </a:custGeom>
            <a:solidFill>
              <a:srgbClr val="F2A54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/>
            <p:nvPr/>
          </p:nvSpPr>
          <p:spPr>
            <a:xfrm>
              <a:off x="0" y="0"/>
              <a:ext cx="9948449" cy="8329676"/>
            </a:xfrm>
            <a:custGeom>
              <a:rect b="b" l="l" r="r" t="t"/>
              <a:pathLst>
                <a:path extrusionOk="0" h="8329676" w="9948449">
                  <a:moveTo>
                    <a:pt x="0" y="1279144"/>
                  </a:moveTo>
                  <a:cubicBezTo>
                    <a:pt x="0" y="572643"/>
                    <a:pt x="747286" y="0"/>
                    <a:pt x="1669126" y="0"/>
                  </a:cubicBezTo>
                  <a:lnTo>
                    <a:pt x="8279323" y="0"/>
                  </a:lnTo>
                  <a:lnTo>
                    <a:pt x="8279323" y="12700"/>
                  </a:lnTo>
                  <a:lnTo>
                    <a:pt x="8279323" y="0"/>
                  </a:lnTo>
                  <a:cubicBezTo>
                    <a:pt x="9201162" y="0"/>
                    <a:pt x="9948449" y="572643"/>
                    <a:pt x="9948449" y="1279144"/>
                  </a:cubicBezTo>
                  <a:lnTo>
                    <a:pt x="9931872" y="1279144"/>
                  </a:lnTo>
                  <a:lnTo>
                    <a:pt x="9948449" y="1279144"/>
                  </a:lnTo>
                  <a:lnTo>
                    <a:pt x="9948449" y="7050532"/>
                  </a:lnTo>
                  <a:lnTo>
                    <a:pt x="9931872" y="7050532"/>
                  </a:lnTo>
                  <a:lnTo>
                    <a:pt x="9948449" y="7050532"/>
                  </a:lnTo>
                  <a:cubicBezTo>
                    <a:pt x="9948449" y="7757033"/>
                    <a:pt x="9201162" y="8329676"/>
                    <a:pt x="8279323" y="8329676"/>
                  </a:cubicBezTo>
                  <a:lnTo>
                    <a:pt x="8279323" y="8316976"/>
                  </a:lnTo>
                  <a:lnTo>
                    <a:pt x="8279323" y="8329676"/>
                  </a:lnTo>
                  <a:lnTo>
                    <a:pt x="1669126" y="8329676"/>
                  </a:lnTo>
                  <a:lnTo>
                    <a:pt x="1669126" y="8316976"/>
                  </a:lnTo>
                  <a:lnTo>
                    <a:pt x="1669126" y="8329676"/>
                  </a:lnTo>
                  <a:cubicBezTo>
                    <a:pt x="747286" y="8329676"/>
                    <a:pt x="0" y="7756906"/>
                    <a:pt x="0" y="7050532"/>
                  </a:cubicBezTo>
                  <a:lnTo>
                    <a:pt x="0" y="1279144"/>
                  </a:lnTo>
                  <a:lnTo>
                    <a:pt x="16577" y="1279144"/>
                  </a:lnTo>
                  <a:lnTo>
                    <a:pt x="0" y="1279144"/>
                  </a:lnTo>
                  <a:moveTo>
                    <a:pt x="33154" y="1279144"/>
                  </a:moveTo>
                  <a:lnTo>
                    <a:pt x="33154" y="7050532"/>
                  </a:lnTo>
                  <a:lnTo>
                    <a:pt x="16577" y="7050532"/>
                  </a:lnTo>
                  <a:lnTo>
                    <a:pt x="33154" y="7050532"/>
                  </a:lnTo>
                  <a:cubicBezTo>
                    <a:pt x="33154" y="7742936"/>
                    <a:pt x="765686" y="8304276"/>
                    <a:pt x="1669126" y="8304276"/>
                  </a:cubicBezTo>
                  <a:lnTo>
                    <a:pt x="8279323" y="8304276"/>
                  </a:lnTo>
                  <a:cubicBezTo>
                    <a:pt x="9182929" y="8304276"/>
                    <a:pt x="9915295" y="7742936"/>
                    <a:pt x="9915295" y="7050532"/>
                  </a:cubicBezTo>
                  <a:lnTo>
                    <a:pt x="9915295" y="1279144"/>
                  </a:lnTo>
                  <a:cubicBezTo>
                    <a:pt x="9915461" y="586740"/>
                    <a:pt x="9182929" y="25400"/>
                    <a:pt x="8279323" y="25400"/>
                  </a:cubicBezTo>
                  <a:lnTo>
                    <a:pt x="1669126" y="25400"/>
                  </a:lnTo>
                  <a:lnTo>
                    <a:pt x="1669126" y="12700"/>
                  </a:lnTo>
                  <a:lnTo>
                    <a:pt x="1669126" y="25400"/>
                  </a:lnTo>
                  <a:cubicBezTo>
                    <a:pt x="765686" y="25400"/>
                    <a:pt x="33154" y="586740"/>
                    <a:pt x="33154" y="1279144"/>
                  </a:cubicBez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5"/>
            <p:cNvSpPr txBox="1"/>
            <p:nvPr/>
          </p:nvSpPr>
          <p:spPr>
            <a:xfrm>
              <a:off x="0" y="-66675"/>
              <a:ext cx="9948532" cy="83963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Limitaciones: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 se integraron métodos de pago automáticos.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 se desarrolló app móvil nativa.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No se generan Boletas</a:t>
              </a:r>
              <a:endParaRPr/>
            </a:p>
          </p:txBody>
        </p:sp>
      </p:grpSp>
      <p:sp>
        <p:nvSpPr>
          <p:cNvPr id="181" name="Google Shape;181;p5"/>
          <p:cNvSpPr/>
          <p:nvPr/>
        </p:nvSpPr>
        <p:spPr>
          <a:xfrm>
            <a:off x="6533113" y="3605341"/>
            <a:ext cx="1562373" cy="1562373"/>
          </a:xfrm>
          <a:custGeom>
            <a:rect b="b" l="l" r="r" t="t"/>
            <a:pathLst>
              <a:path extrusionOk="0" h="1562373" w="1562373">
                <a:moveTo>
                  <a:pt x="0" y="0"/>
                </a:moveTo>
                <a:lnTo>
                  <a:pt x="1562373" y="0"/>
                </a:lnTo>
                <a:lnTo>
                  <a:pt x="1562373" y="1562373"/>
                </a:lnTo>
                <a:lnTo>
                  <a:pt x="0" y="15623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p5"/>
          <p:cNvSpPr/>
          <p:nvPr/>
        </p:nvSpPr>
        <p:spPr>
          <a:xfrm>
            <a:off x="14906289" y="7687434"/>
            <a:ext cx="1564976" cy="1570866"/>
          </a:xfrm>
          <a:custGeom>
            <a:rect b="b" l="l" r="r" t="t"/>
            <a:pathLst>
              <a:path extrusionOk="0" h="1570866" w="1564976">
                <a:moveTo>
                  <a:pt x="0" y="0"/>
                </a:moveTo>
                <a:lnTo>
                  <a:pt x="1564975" y="0"/>
                </a:lnTo>
                <a:lnTo>
                  <a:pt x="1564975" y="1570866"/>
                </a:lnTo>
                <a:lnTo>
                  <a:pt x="0" y="157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3" name="Google Shape;183;p5"/>
          <p:cNvSpPr txBox="1"/>
          <p:nvPr/>
        </p:nvSpPr>
        <p:spPr>
          <a:xfrm>
            <a:off x="91425" y="1650274"/>
            <a:ext cx="18105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Alcances y limitaciones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193" name="Google Shape;193;p6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cxnSp>
        <p:nvCxnSpPr>
          <p:cNvPr id="194" name="Google Shape;194;p6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5" name="Google Shape;195;p6"/>
          <p:cNvGrpSpPr/>
          <p:nvPr/>
        </p:nvGrpSpPr>
        <p:grpSpPr>
          <a:xfrm>
            <a:off x="676267" y="4137479"/>
            <a:ext cx="9822150" cy="5121675"/>
            <a:chOff x="0" y="-66675"/>
            <a:chExt cx="13096200" cy="6828900"/>
          </a:xfrm>
        </p:grpSpPr>
        <p:sp>
          <p:nvSpPr>
            <p:cNvPr id="196" name="Google Shape;196;p6"/>
            <p:cNvSpPr/>
            <p:nvPr/>
          </p:nvSpPr>
          <p:spPr>
            <a:xfrm>
              <a:off x="10825" y="12700"/>
              <a:ext cx="13074488" cy="6736715"/>
            </a:xfrm>
            <a:custGeom>
              <a:rect b="b" l="l" r="r" t="t"/>
              <a:pathLst>
                <a:path extrusionOk="0" h="6736715" w="13074488">
                  <a:moveTo>
                    <a:pt x="0" y="1122807"/>
                  </a:moveTo>
                  <a:cubicBezTo>
                    <a:pt x="0" y="502666"/>
                    <a:pt x="429415" y="0"/>
                    <a:pt x="959067" y="0"/>
                  </a:cubicBezTo>
                  <a:lnTo>
                    <a:pt x="12115421" y="0"/>
                  </a:lnTo>
                  <a:cubicBezTo>
                    <a:pt x="12645074" y="0"/>
                    <a:pt x="13074488" y="502666"/>
                    <a:pt x="13074488" y="1122807"/>
                  </a:cubicBezTo>
                  <a:lnTo>
                    <a:pt x="13074488" y="5613908"/>
                  </a:lnTo>
                  <a:cubicBezTo>
                    <a:pt x="13074488" y="6234049"/>
                    <a:pt x="12645074" y="6736715"/>
                    <a:pt x="12115421" y="6736715"/>
                  </a:cubicBezTo>
                  <a:lnTo>
                    <a:pt x="959067" y="6736715"/>
                  </a:lnTo>
                  <a:cubicBezTo>
                    <a:pt x="429415" y="6736715"/>
                    <a:pt x="0" y="6234049"/>
                    <a:pt x="0" y="5613908"/>
                  </a:cubicBezTo>
                  <a:close/>
                </a:path>
              </a:pathLst>
            </a:custGeom>
            <a:solidFill>
              <a:srgbClr val="B3C6E7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6"/>
            <p:cNvSpPr/>
            <p:nvPr/>
          </p:nvSpPr>
          <p:spPr>
            <a:xfrm>
              <a:off x="0" y="0"/>
              <a:ext cx="13096143" cy="6762115"/>
            </a:xfrm>
            <a:custGeom>
              <a:rect b="b" l="l" r="r" t="t"/>
              <a:pathLst>
                <a:path extrusionOk="0" h="6762115" w="13096143">
                  <a:moveTo>
                    <a:pt x="0" y="1135507"/>
                  </a:moveTo>
                  <a:cubicBezTo>
                    <a:pt x="0" y="508381"/>
                    <a:pt x="434286" y="0"/>
                    <a:pt x="969892" y="0"/>
                  </a:cubicBezTo>
                  <a:lnTo>
                    <a:pt x="12126246" y="0"/>
                  </a:lnTo>
                  <a:lnTo>
                    <a:pt x="12126246" y="12700"/>
                  </a:lnTo>
                  <a:lnTo>
                    <a:pt x="12126246" y="0"/>
                  </a:lnTo>
                  <a:cubicBezTo>
                    <a:pt x="12661851" y="0"/>
                    <a:pt x="13096143" y="508381"/>
                    <a:pt x="13096143" y="1135507"/>
                  </a:cubicBezTo>
                  <a:lnTo>
                    <a:pt x="13085313" y="1135507"/>
                  </a:lnTo>
                  <a:lnTo>
                    <a:pt x="13096143" y="1135507"/>
                  </a:lnTo>
                  <a:lnTo>
                    <a:pt x="13096143" y="5626608"/>
                  </a:lnTo>
                  <a:lnTo>
                    <a:pt x="13085313" y="5626608"/>
                  </a:lnTo>
                  <a:lnTo>
                    <a:pt x="13096143" y="5626608"/>
                  </a:lnTo>
                  <a:cubicBezTo>
                    <a:pt x="13096143" y="6253734"/>
                    <a:pt x="12661851" y="6762115"/>
                    <a:pt x="12126246" y="6762115"/>
                  </a:cubicBezTo>
                  <a:lnTo>
                    <a:pt x="12126246" y="6749415"/>
                  </a:lnTo>
                  <a:lnTo>
                    <a:pt x="12126246" y="6762115"/>
                  </a:lnTo>
                  <a:lnTo>
                    <a:pt x="969892" y="6762115"/>
                  </a:lnTo>
                  <a:lnTo>
                    <a:pt x="969892" y="6749415"/>
                  </a:lnTo>
                  <a:lnTo>
                    <a:pt x="969892" y="6762115"/>
                  </a:lnTo>
                  <a:cubicBezTo>
                    <a:pt x="434286" y="6762115"/>
                    <a:pt x="0" y="6253734"/>
                    <a:pt x="0" y="5626608"/>
                  </a:cubicBezTo>
                  <a:lnTo>
                    <a:pt x="0" y="1135507"/>
                  </a:lnTo>
                  <a:lnTo>
                    <a:pt x="10825" y="1135507"/>
                  </a:lnTo>
                  <a:lnTo>
                    <a:pt x="0" y="1135507"/>
                  </a:lnTo>
                  <a:moveTo>
                    <a:pt x="21649" y="1135507"/>
                  </a:moveTo>
                  <a:lnTo>
                    <a:pt x="21649" y="5626608"/>
                  </a:lnTo>
                  <a:lnTo>
                    <a:pt x="10825" y="5626608"/>
                  </a:lnTo>
                  <a:lnTo>
                    <a:pt x="21649" y="5626608"/>
                  </a:lnTo>
                  <a:cubicBezTo>
                    <a:pt x="21649" y="6239637"/>
                    <a:pt x="446194" y="6736715"/>
                    <a:pt x="969892" y="6736715"/>
                  </a:cubicBezTo>
                  <a:lnTo>
                    <a:pt x="12126246" y="6736715"/>
                  </a:lnTo>
                  <a:cubicBezTo>
                    <a:pt x="12649944" y="6736715"/>
                    <a:pt x="13074489" y="6239637"/>
                    <a:pt x="13074489" y="5626608"/>
                  </a:cubicBezTo>
                  <a:lnTo>
                    <a:pt x="13074489" y="1135507"/>
                  </a:lnTo>
                  <a:cubicBezTo>
                    <a:pt x="13074489" y="522478"/>
                    <a:pt x="12649944" y="25400"/>
                    <a:pt x="12126246" y="25400"/>
                  </a:cubicBezTo>
                  <a:lnTo>
                    <a:pt x="969892" y="25400"/>
                  </a:lnTo>
                  <a:lnTo>
                    <a:pt x="969892" y="12700"/>
                  </a:lnTo>
                  <a:lnTo>
                    <a:pt x="969892" y="25400"/>
                  </a:lnTo>
                  <a:cubicBezTo>
                    <a:pt x="446194" y="25400"/>
                    <a:pt x="21649" y="522478"/>
                    <a:pt x="21649" y="1135507"/>
                  </a:cubicBez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0" y="-66675"/>
              <a:ext cx="13096200" cy="68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		Metodología ágil Scrum.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Iteraciones semanales con revisión y planificación.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Control de versiones con GitHub.</a:t>
              </a:r>
              <a:endParaRPr/>
            </a:p>
            <a:p>
              <a:pPr indent="-325754" lvl="1" marL="65151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600"/>
                <a:buFont typeface="Arial"/>
                <a:buChar char="•"/>
              </a:pPr>
              <a:r>
                <a:rPr b="0" i="0" lang="en-US" sz="36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Pruebas funcionales y de usuario realizadas por el equipo.</a:t>
              </a:r>
              <a:endParaRPr/>
            </a:p>
          </p:txBody>
        </p:sp>
      </p:grpSp>
      <p:sp>
        <p:nvSpPr>
          <p:cNvPr id="199" name="Google Shape;199;p6"/>
          <p:cNvSpPr/>
          <p:nvPr/>
        </p:nvSpPr>
        <p:spPr>
          <a:xfrm>
            <a:off x="8822175" y="3956250"/>
            <a:ext cx="2628542" cy="2422804"/>
          </a:xfrm>
          <a:custGeom>
            <a:rect b="b" l="l" r="r" t="t"/>
            <a:pathLst>
              <a:path extrusionOk="0" h="3616125" w="3676282">
                <a:moveTo>
                  <a:pt x="0" y="0"/>
                </a:moveTo>
                <a:lnTo>
                  <a:pt x="3676282" y="0"/>
                </a:lnTo>
                <a:lnTo>
                  <a:pt x="3676282" y="3616125"/>
                </a:lnTo>
                <a:lnTo>
                  <a:pt x="0" y="36161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6"/>
          <p:cNvSpPr txBox="1"/>
          <p:nvPr/>
        </p:nvSpPr>
        <p:spPr>
          <a:xfrm>
            <a:off x="91500" y="1594732"/>
            <a:ext cx="18105000" cy="1828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Metodología de trabajo para el </a:t>
            </a:r>
            <a:b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desarrollo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 rot="10799838">
            <a:off x="11510050" y="5160951"/>
            <a:ext cx="6360300" cy="3570000"/>
          </a:xfrm>
          <a:prstGeom prst="homePlate">
            <a:avLst>
              <a:gd fmla="val 50000" name="adj"/>
            </a:avLst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>
            <a:hlinkClick r:id="rId5"/>
          </p:cNvPr>
          <p:cNvSpPr/>
          <p:nvPr/>
        </p:nvSpPr>
        <p:spPr>
          <a:xfrm>
            <a:off x="13603725" y="6779098"/>
            <a:ext cx="1517897" cy="1620167"/>
          </a:xfrm>
          <a:custGeom>
            <a:rect b="b" l="l" r="r" t="t"/>
            <a:pathLst>
              <a:path extrusionOk="0" h="1076523" w="1076523">
                <a:moveTo>
                  <a:pt x="0" y="0"/>
                </a:moveTo>
                <a:lnTo>
                  <a:pt x="1076523" y="0"/>
                </a:lnTo>
                <a:lnTo>
                  <a:pt x="1076523" y="1076523"/>
                </a:lnTo>
                <a:lnTo>
                  <a:pt x="0" y="107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6">
            <a:hlinkClick r:id="rId7"/>
          </p:cNvPr>
          <p:cNvSpPr/>
          <p:nvPr/>
        </p:nvSpPr>
        <p:spPr>
          <a:xfrm>
            <a:off x="15875275" y="6906175"/>
            <a:ext cx="1518592" cy="1366048"/>
          </a:xfrm>
          <a:custGeom>
            <a:rect b="b" l="l" r="r" t="t"/>
            <a:pathLst>
              <a:path extrusionOk="0" h="627347" w="611719">
                <a:moveTo>
                  <a:pt x="0" y="0"/>
                </a:moveTo>
                <a:lnTo>
                  <a:pt x="611719" y="0"/>
                </a:lnTo>
                <a:lnTo>
                  <a:pt x="611719" y="627348"/>
                </a:lnTo>
                <a:lnTo>
                  <a:pt x="0" y="627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-2549" t="0"/>
            </a:stretch>
          </a:blipFill>
          <a:ln>
            <a:noFill/>
          </a:ln>
        </p:spPr>
      </p:sp>
      <p:sp>
        <p:nvSpPr>
          <p:cNvPr id="205" name="Google Shape;205;p6"/>
          <p:cNvSpPr txBox="1"/>
          <p:nvPr/>
        </p:nvSpPr>
        <p:spPr>
          <a:xfrm>
            <a:off x="13603725" y="5336400"/>
            <a:ext cx="42666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Evidencias de documentación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214" name="Google Shape;214;p7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15" name="Google Shape;215;p7"/>
          <p:cNvSpPr txBox="1"/>
          <p:nvPr/>
        </p:nvSpPr>
        <p:spPr>
          <a:xfrm>
            <a:off x="91426" y="1664884"/>
            <a:ext cx="18105000" cy="1366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Cronograma para el desarrollo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Roadmap de trabajo proyecto “Distribuidora Talagante”</a:t>
            </a:r>
            <a:endParaRPr/>
          </a:p>
        </p:txBody>
      </p:sp>
      <p:cxnSp>
        <p:nvCxnSpPr>
          <p:cNvPr id="216" name="Google Shape;216;p7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7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2662012" y="2995088"/>
            <a:ext cx="13796772" cy="7075646"/>
          </a:xfrm>
          <a:custGeom>
            <a:rect b="b" l="l" r="r" t="t"/>
            <a:pathLst>
              <a:path extrusionOk="0" h="9434195" w="18395696">
                <a:moveTo>
                  <a:pt x="0" y="0"/>
                </a:moveTo>
                <a:lnTo>
                  <a:pt x="18395696" y="0"/>
                </a:lnTo>
                <a:lnTo>
                  <a:pt x="18395696" y="9434195"/>
                </a:lnTo>
                <a:lnTo>
                  <a:pt x="0" y="9434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838" l="0" r="0" t="-4837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227" name="Google Shape;227;p8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28" name="Google Shape;228;p8"/>
          <p:cNvSpPr txBox="1"/>
          <p:nvPr/>
        </p:nvSpPr>
        <p:spPr>
          <a:xfrm>
            <a:off x="-1238" y="1358770"/>
            <a:ext cx="18105300" cy="2382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Arquitectura  y </a:t>
            </a:r>
            <a:r>
              <a:rPr lang="en-US" sz="5400">
                <a:latin typeface="Comic Sans MS"/>
                <a:ea typeface="Comic Sans MS"/>
                <a:cs typeface="Comic Sans MS"/>
                <a:sym typeface="Comic Sans MS"/>
              </a:rPr>
              <a:t>Despliegue</a:t>
            </a: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del software</a:t>
            </a:r>
            <a:endParaRPr i="0" sz="54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latin typeface="Comic Sans MS"/>
                <a:ea typeface="Comic Sans MS"/>
                <a:cs typeface="Comic Sans MS"/>
                <a:sym typeface="Comic Sans MS"/>
              </a:rPr>
              <a:t>(MTV)</a:t>
            </a:r>
            <a:endParaRPr sz="54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5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994912" y="3005970"/>
            <a:ext cx="5863971" cy="7109555"/>
          </a:xfrm>
          <a:custGeom>
            <a:rect b="b" l="l" r="r" t="t"/>
            <a:pathLst>
              <a:path extrusionOk="0" h="9479407" w="7818628">
                <a:moveTo>
                  <a:pt x="0" y="0"/>
                </a:moveTo>
                <a:lnTo>
                  <a:pt x="7818628" y="0"/>
                </a:lnTo>
                <a:lnTo>
                  <a:pt x="7818628" y="9479407"/>
                </a:lnTo>
                <a:lnTo>
                  <a:pt x="0" y="94794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2" name="Google Shape;232;p8" title="Deployment Diagram Example_ Switch and WebServer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47573" y="2495701"/>
            <a:ext cx="6422776" cy="761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241" name="Google Shape;241;p9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42" name="Google Shape;242;p9"/>
          <p:cNvSpPr txBox="1"/>
          <p:nvPr/>
        </p:nvSpPr>
        <p:spPr>
          <a:xfrm>
            <a:off x="295707" y="541942"/>
            <a:ext cx="18105148" cy="519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91425" y="1403508"/>
            <a:ext cx="18105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Modelo de datos relacional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cxnSp>
        <p:nvCxnSpPr>
          <p:cNvPr id="244" name="Google Shape;244;p9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descr="Diagrama  El contenido generado por IA puede ser incorrecto." id="245" name="Google Shape;245;p9"/>
          <p:cNvSpPr/>
          <p:nvPr/>
        </p:nvSpPr>
        <p:spPr>
          <a:xfrm>
            <a:off x="1906350" y="2655225"/>
            <a:ext cx="14475309" cy="7392702"/>
          </a:xfrm>
          <a:custGeom>
            <a:rect b="b" l="l" r="r" t="t"/>
            <a:pathLst>
              <a:path extrusionOk="0" h="9155049" w="18381345">
                <a:moveTo>
                  <a:pt x="0" y="0"/>
                </a:moveTo>
                <a:lnTo>
                  <a:pt x="18381345" y="0"/>
                </a:lnTo>
                <a:lnTo>
                  <a:pt x="18381345" y="9155049"/>
                </a:lnTo>
                <a:lnTo>
                  <a:pt x="0" y="91550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11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254" name="Google Shape;254;p10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cxnSp>
        <p:nvCxnSpPr>
          <p:cNvPr id="255" name="Google Shape;255;p10"/>
          <p:cNvCxnSpPr/>
          <p:nvPr/>
        </p:nvCxnSpPr>
        <p:spPr>
          <a:xfrm rot="13320">
            <a:off x="-11925" y="1132275"/>
            <a:ext cx="6152283" cy="0"/>
          </a:xfrm>
          <a:prstGeom prst="straightConnector1">
            <a:avLst/>
          </a:prstGeom>
          <a:noFill/>
          <a:ln cap="rnd" cmpd="sng" w="9525">
            <a:solidFill>
              <a:srgbClr val="F5F7FC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6" name="Google Shape;256;p10"/>
          <p:cNvGrpSpPr/>
          <p:nvPr/>
        </p:nvGrpSpPr>
        <p:grpSpPr>
          <a:xfrm>
            <a:off x="7531580" y="2334236"/>
            <a:ext cx="2710817" cy="2336197"/>
            <a:chOff x="0" y="0"/>
            <a:chExt cx="3614424" cy="3114929"/>
          </a:xfrm>
        </p:grpSpPr>
        <p:sp>
          <p:nvSpPr>
            <p:cNvPr id="257" name="Google Shape;257;p10"/>
            <p:cNvSpPr/>
            <p:nvPr/>
          </p:nvSpPr>
          <p:spPr>
            <a:xfrm>
              <a:off x="16880" y="25400"/>
              <a:ext cx="3580664" cy="3064129"/>
            </a:xfrm>
            <a:custGeom>
              <a:rect b="b" l="l" r="r" t="t"/>
              <a:pathLst>
                <a:path extrusionOk="0" h="3064129" w="3580664">
                  <a:moveTo>
                    <a:pt x="0" y="510667"/>
                  </a:moveTo>
                  <a:cubicBezTo>
                    <a:pt x="0" y="228600"/>
                    <a:pt x="153013" y="0"/>
                    <a:pt x="341811" y="0"/>
                  </a:cubicBezTo>
                  <a:lnTo>
                    <a:pt x="3238852" y="0"/>
                  </a:lnTo>
                  <a:cubicBezTo>
                    <a:pt x="3427650" y="0"/>
                    <a:pt x="3580664" y="228600"/>
                    <a:pt x="3580664" y="510667"/>
                  </a:cubicBezTo>
                  <a:lnTo>
                    <a:pt x="3580664" y="2553462"/>
                  </a:lnTo>
                  <a:cubicBezTo>
                    <a:pt x="3580664" y="2835529"/>
                    <a:pt x="3427650" y="3064129"/>
                    <a:pt x="3238852" y="3064129"/>
                  </a:cubicBezTo>
                  <a:lnTo>
                    <a:pt x="341811" y="3064129"/>
                  </a:lnTo>
                  <a:cubicBezTo>
                    <a:pt x="153013" y="3064129"/>
                    <a:pt x="0" y="2835529"/>
                    <a:pt x="0" y="2553462"/>
                  </a:cubicBezTo>
                  <a:close/>
                </a:path>
              </a:pathLst>
            </a:custGeom>
            <a:solidFill>
              <a:srgbClr val="B3C6E7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0" y="0"/>
              <a:ext cx="3614424" cy="3114929"/>
            </a:xfrm>
            <a:custGeom>
              <a:rect b="b" l="l" r="r" t="t"/>
              <a:pathLst>
                <a:path extrusionOk="0" h="3114929" w="3614424">
                  <a:moveTo>
                    <a:pt x="0" y="536067"/>
                  </a:moveTo>
                  <a:cubicBezTo>
                    <a:pt x="0" y="239903"/>
                    <a:pt x="160694" y="0"/>
                    <a:pt x="358691" y="0"/>
                  </a:cubicBezTo>
                  <a:lnTo>
                    <a:pt x="3255732" y="0"/>
                  </a:lnTo>
                  <a:lnTo>
                    <a:pt x="3255732" y="25400"/>
                  </a:lnTo>
                  <a:lnTo>
                    <a:pt x="3255732" y="0"/>
                  </a:lnTo>
                  <a:cubicBezTo>
                    <a:pt x="3453730" y="0"/>
                    <a:pt x="3614424" y="239903"/>
                    <a:pt x="3614424" y="536067"/>
                  </a:cubicBezTo>
                  <a:lnTo>
                    <a:pt x="3597544" y="536067"/>
                  </a:lnTo>
                  <a:lnTo>
                    <a:pt x="3614424" y="536067"/>
                  </a:lnTo>
                  <a:lnTo>
                    <a:pt x="3614424" y="2578862"/>
                  </a:lnTo>
                  <a:lnTo>
                    <a:pt x="3597544" y="2578862"/>
                  </a:lnTo>
                  <a:lnTo>
                    <a:pt x="3614424" y="2578862"/>
                  </a:lnTo>
                  <a:cubicBezTo>
                    <a:pt x="3614424" y="2875153"/>
                    <a:pt x="3453730" y="3114929"/>
                    <a:pt x="3255732" y="3114929"/>
                  </a:cubicBezTo>
                  <a:lnTo>
                    <a:pt x="3255732" y="3089529"/>
                  </a:lnTo>
                  <a:lnTo>
                    <a:pt x="3255732" y="3114929"/>
                  </a:lnTo>
                  <a:lnTo>
                    <a:pt x="358691" y="3114929"/>
                  </a:lnTo>
                  <a:lnTo>
                    <a:pt x="358691" y="3089529"/>
                  </a:lnTo>
                  <a:lnTo>
                    <a:pt x="358691" y="3114929"/>
                  </a:lnTo>
                  <a:cubicBezTo>
                    <a:pt x="160694" y="3114929"/>
                    <a:pt x="0" y="2875026"/>
                    <a:pt x="0" y="2578862"/>
                  </a:cubicBezTo>
                  <a:lnTo>
                    <a:pt x="0" y="536067"/>
                  </a:lnTo>
                  <a:lnTo>
                    <a:pt x="16880" y="536067"/>
                  </a:lnTo>
                  <a:lnTo>
                    <a:pt x="0" y="536067"/>
                  </a:lnTo>
                  <a:moveTo>
                    <a:pt x="33759" y="536067"/>
                  </a:moveTo>
                  <a:lnTo>
                    <a:pt x="33759" y="2578862"/>
                  </a:lnTo>
                  <a:lnTo>
                    <a:pt x="16880" y="2578862"/>
                  </a:lnTo>
                  <a:lnTo>
                    <a:pt x="33759" y="2578862"/>
                  </a:lnTo>
                  <a:cubicBezTo>
                    <a:pt x="33759" y="2846705"/>
                    <a:pt x="179092" y="3064129"/>
                    <a:pt x="358691" y="3064129"/>
                  </a:cubicBezTo>
                  <a:lnTo>
                    <a:pt x="3255732" y="3064129"/>
                  </a:lnTo>
                  <a:cubicBezTo>
                    <a:pt x="3435247" y="3064129"/>
                    <a:pt x="3580664" y="2846705"/>
                    <a:pt x="3580664" y="2578862"/>
                  </a:cubicBezTo>
                  <a:lnTo>
                    <a:pt x="3580664" y="536067"/>
                  </a:lnTo>
                  <a:cubicBezTo>
                    <a:pt x="3580664" y="268224"/>
                    <a:pt x="3435331" y="50800"/>
                    <a:pt x="3255732" y="50800"/>
                  </a:cubicBezTo>
                  <a:lnTo>
                    <a:pt x="358691" y="50800"/>
                  </a:lnTo>
                  <a:lnTo>
                    <a:pt x="358691" y="25400"/>
                  </a:lnTo>
                  <a:lnTo>
                    <a:pt x="358691" y="50800"/>
                  </a:lnTo>
                  <a:cubicBezTo>
                    <a:pt x="179092" y="50800"/>
                    <a:pt x="33759" y="268224"/>
                    <a:pt x="33759" y="536067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9" name="Google Shape;259;p10"/>
          <p:cNvSpPr/>
          <p:nvPr/>
        </p:nvSpPr>
        <p:spPr>
          <a:xfrm>
            <a:off x="11073367" y="4523307"/>
            <a:ext cx="270319" cy="452247"/>
          </a:xfrm>
          <a:custGeom>
            <a:rect b="b" l="l" r="r" t="t"/>
            <a:pathLst>
              <a:path extrusionOk="0" h="602996" w="360426">
                <a:moveTo>
                  <a:pt x="7747" y="0"/>
                </a:moveTo>
                <a:cubicBezTo>
                  <a:pt x="10795" y="0"/>
                  <a:pt x="13589" y="1397"/>
                  <a:pt x="15494" y="3937"/>
                </a:cubicBezTo>
                <a:cubicBezTo>
                  <a:pt x="150368" y="188722"/>
                  <a:pt x="265938" y="386715"/>
                  <a:pt x="360426" y="595122"/>
                </a:cubicBezTo>
                <a:lnTo>
                  <a:pt x="343027" y="602996"/>
                </a:lnTo>
                <a:cubicBezTo>
                  <a:pt x="249047" y="395859"/>
                  <a:pt x="134112" y="198882"/>
                  <a:pt x="0" y="15240"/>
                </a:cubicBezTo>
                <a:lnTo>
                  <a:pt x="7747" y="9652"/>
                </a:lnTo>
                <a:lnTo>
                  <a:pt x="7747" y="19177"/>
                </a:lnTo>
                <a:close/>
              </a:path>
            </a:pathLst>
          </a:custGeom>
          <a:solidFill>
            <a:srgbClr val="4372C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" name="Google Shape;260;p10"/>
          <p:cNvGrpSpPr/>
          <p:nvPr/>
        </p:nvGrpSpPr>
        <p:grpSpPr>
          <a:xfrm>
            <a:off x="9460695" y="4958302"/>
            <a:ext cx="4200715" cy="2099025"/>
            <a:chOff x="0" y="0"/>
            <a:chExt cx="5600954" cy="2798699"/>
          </a:xfrm>
        </p:grpSpPr>
        <p:sp>
          <p:nvSpPr>
            <p:cNvPr id="261" name="Google Shape;261;p10"/>
            <p:cNvSpPr/>
            <p:nvPr/>
          </p:nvSpPr>
          <p:spPr>
            <a:xfrm>
              <a:off x="25400" y="25400"/>
              <a:ext cx="5550154" cy="2747899"/>
            </a:xfrm>
            <a:custGeom>
              <a:rect b="b" l="l" r="r" t="t"/>
              <a:pathLst>
                <a:path extrusionOk="0" h="2747899" w="5550154">
                  <a:moveTo>
                    <a:pt x="0" y="457962"/>
                  </a:moveTo>
                  <a:cubicBezTo>
                    <a:pt x="0" y="205105"/>
                    <a:pt x="206883" y="0"/>
                    <a:pt x="462280" y="0"/>
                  </a:cubicBezTo>
                  <a:lnTo>
                    <a:pt x="5087874" y="0"/>
                  </a:lnTo>
                  <a:cubicBezTo>
                    <a:pt x="5343144" y="0"/>
                    <a:pt x="5550154" y="205105"/>
                    <a:pt x="5550154" y="457962"/>
                  </a:cubicBezTo>
                  <a:lnTo>
                    <a:pt x="5550154" y="2289937"/>
                  </a:lnTo>
                  <a:cubicBezTo>
                    <a:pt x="5550154" y="2542921"/>
                    <a:pt x="5343271" y="2747899"/>
                    <a:pt x="5087874" y="2747899"/>
                  </a:cubicBezTo>
                  <a:lnTo>
                    <a:pt x="462280" y="2747899"/>
                  </a:lnTo>
                  <a:cubicBezTo>
                    <a:pt x="207010" y="2747899"/>
                    <a:pt x="0" y="2542794"/>
                    <a:pt x="0" y="2289937"/>
                  </a:cubicBezTo>
                  <a:close/>
                </a:path>
              </a:pathLst>
            </a:custGeom>
            <a:solidFill>
              <a:srgbClr val="B3C6E7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0" y="0"/>
              <a:ext cx="5600954" cy="2798699"/>
            </a:xfrm>
            <a:custGeom>
              <a:rect b="b" l="l" r="r" t="t"/>
              <a:pathLst>
                <a:path extrusionOk="0" h="2798699" w="5600954">
                  <a:moveTo>
                    <a:pt x="0" y="483362"/>
                  </a:moveTo>
                  <a:cubicBezTo>
                    <a:pt x="0" y="216154"/>
                    <a:pt x="218567" y="0"/>
                    <a:pt x="487680" y="0"/>
                  </a:cubicBezTo>
                  <a:lnTo>
                    <a:pt x="5113274" y="0"/>
                  </a:lnTo>
                  <a:lnTo>
                    <a:pt x="5113274" y="25400"/>
                  </a:lnTo>
                  <a:lnTo>
                    <a:pt x="5113274" y="0"/>
                  </a:lnTo>
                  <a:cubicBezTo>
                    <a:pt x="5382387" y="0"/>
                    <a:pt x="5600954" y="216154"/>
                    <a:pt x="5600954" y="483362"/>
                  </a:cubicBezTo>
                  <a:lnTo>
                    <a:pt x="5575554" y="483362"/>
                  </a:lnTo>
                  <a:lnTo>
                    <a:pt x="5600954" y="483362"/>
                  </a:lnTo>
                  <a:lnTo>
                    <a:pt x="5600954" y="2315337"/>
                  </a:lnTo>
                  <a:lnTo>
                    <a:pt x="5575554" y="2315337"/>
                  </a:lnTo>
                  <a:lnTo>
                    <a:pt x="5600954" y="2315337"/>
                  </a:lnTo>
                  <a:cubicBezTo>
                    <a:pt x="5600954" y="2582545"/>
                    <a:pt x="5382387" y="2798699"/>
                    <a:pt x="5113274" y="2798699"/>
                  </a:cubicBezTo>
                  <a:lnTo>
                    <a:pt x="5113274" y="2773299"/>
                  </a:lnTo>
                  <a:lnTo>
                    <a:pt x="5113274" y="2798699"/>
                  </a:lnTo>
                  <a:lnTo>
                    <a:pt x="487680" y="2798699"/>
                  </a:lnTo>
                  <a:lnTo>
                    <a:pt x="487680" y="2773299"/>
                  </a:lnTo>
                  <a:lnTo>
                    <a:pt x="487680" y="2798699"/>
                  </a:lnTo>
                  <a:cubicBezTo>
                    <a:pt x="218567" y="2798699"/>
                    <a:pt x="0" y="2582418"/>
                    <a:pt x="0" y="2315337"/>
                  </a:cubicBezTo>
                  <a:lnTo>
                    <a:pt x="0" y="483362"/>
                  </a:lnTo>
                  <a:lnTo>
                    <a:pt x="25400" y="483362"/>
                  </a:lnTo>
                  <a:lnTo>
                    <a:pt x="0" y="483362"/>
                  </a:lnTo>
                  <a:moveTo>
                    <a:pt x="50800" y="483362"/>
                  </a:moveTo>
                  <a:lnTo>
                    <a:pt x="50800" y="2315337"/>
                  </a:lnTo>
                  <a:lnTo>
                    <a:pt x="25400" y="2315337"/>
                  </a:lnTo>
                  <a:lnTo>
                    <a:pt x="50800" y="2315337"/>
                  </a:lnTo>
                  <a:cubicBezTo>
                    <a:pt x="50800" y="2553970"/>
                    <a:pt x="246126" y="2747899"/>
                    <a:pt x="487680" y="2747899"/>
                  </a:cubicBezTo>
                  <a:lnTo>
                    <a:pt x="5113274" y="2747899"/>
                  </a:lnTo>
                  <a:cubicBezTo>
                    <a:pt x="5354701" y="2747899"/>
                    <a:pt x="5550154" y="2553970"/>
                    <a:pt x="5550154" y="2315337"/>
                  </a:cubicBezTo>
                  <a:lnTo>
                    <a:pt x="5550154" y="483362"/>
                  </a:lnTo>
                  <a:cubicBezTo>
                    <a:pt x="5550027" y="244729"/>
                    <a:pt x="5354701" y="50800"/>
                    <a:pt x="5113274" y="50800"/>
                  </a:cubicBezTo>
                  <a:lnTo>
                    <a:pt x="487680" y="50800"/>
                  </a:lnTo>
                  <a:lnTo>
                    <a:pt x="487680" y="25400"/>
                  </a:lnTo>
                  <a:lnTo>
                    <a:pt x="487680" y="50800"/>
                  </a:lnTo>
                  <a:cubicBezTo>
                    <a:pt x="246126" y="50800"/>
                    <a:pt x="50800" y="244729"/>
                    <a:pt x="50800" y="483362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3" name="Google Shape;263;p10"/>
          <p:cNvSpPr/>
          <p:nvPr/>
        </p:nvSpPr>
        <p:spPr>
          <a:xfrm>
            <a:off x="9957473" y="7040659"/>
            <a:ext cx="574167" cy="574167"/>
          </a:xfrm>
          <a:custGeom>
            <a:rect b="b" l="l" r="r" t="t"/>
            <a:pathLst>
              <a:path extrusionOk="0" h="765556" w="765556">
                <a:moveTo>
                  <a:pt x="765556" y="11176"/>
                </a:moveTo>
                <a:cubicBezTo>
                  <a:pt x="556006" y="301371"/>
                  <a:pt x="301244" y="556006"/>
                  <a:pt x="11176" y="765556"/>
                </a:cubicBezTo>
                <a:lnTo>
                  <a:pt x="0" y="750062"/>
                </a:lnTo>
                <a:cubicBezTo>
                  <a:pt x="288417" y="541655"/>
                  <a:pt x="541782" y="288417"/>
                  <a:pt x="750062" y="0"/>
                </a:cubicBezTo>
                <a:close/>
              </a:path>
            </a:pathLst>
          </a:custGeom>
          <a:solidFill>
            <a:srgbClr val="4372C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4" name="Google Shape;264;p10"/>
          <p:cNvGrpSpPr/>
          <p:nvPr/>
        </p:nvGrpSpPr>
        <p:grpSpPr>
          <a:xfrm>
            <a:off x="7104453" y="7594788"/>
            <a:ext cx="3902106" cy="1836992"/>
            <a:chOff x="0" y="0"/>
            <a:chExt cx="5202809" cy="2449322"/>
          </a:xfrm>
        </p:grpSpPr>
        <p:sp>
          <p:nvSpPr>
            <p:cNvPr id="265" name="Google Shape;265;p10"/>
            <p:cNvSpPr/>
            <p:nvPr/>
          </p:nvSpPr>
          <p:spPr>
            <a:xfrm>
              <a:off x="25400" y="25400"/>
              <a:ext cx="5152009" cy="2398522"/>
            </a:xfrm>
            <a:custGeom>
              <a:rect b="b" l="l" r="r" t="t"/>
              <a:pathLst>
                <a:path extrusionOk="0" h="2398522" w="5152009">
                  <a:moveTo>
                    <a:pt x="0" y="399796"/>
                  </a:moveTo>
                  <a:cubicBezTo>
                    <a:pt x="0" y="178943"/>
                    <a:pt x="180975" y="0"/>
                    <a:pt x="404241" y="0"/>
                  </a:cubicBezTo>
                  <a:lnTo>
                    <a:pt x="4747768" y="0"/>
                  </a:lnTo>
                  <a:cubicBezTo>
                    <a:pt x="4971034" y="0"/>
                    <a:pt x="5152009" y="178943"/>
                    <a:pt x="5152009" y="399796"/>
                  </a:cubicBezTo>
                  <a:lnTo>
                    <a:pt x="5152009" y="1998726"/>
                  </a:lnTo>
                  <a:cubicBezTo>
                    <a:pt x="5152009" y="2219452"/>
                    <a:pt x="4971034" y="2398522"/>
                    <a:pt x="4747768" y="2398522"/>
                  </a:cubicBezTo>
                  <a:lnTo>
                    <a:pt x="404241" y="2398522"/>
                  </a:lnTo>
                  <a:cubicBezTo>
                    <a:pt x="180975" y="2398522"/>
                    <a:pt x="0" y="2219579"/>
                    <a:pt x="0" y="1998726"/>
                  </a:cubicBezTo>
                  <a:close/>
                </a:path>
              </a:pathLst>
            </a:custGeom>
            <a:solidFill>
              <a:srgbClr val="B3C6E7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0" y="0"/>
              <a:ext cx="5202809" cy="2449322"/>
            </a:xfrm>
            <a:custGeom>
              <a:rect b="b" l="l" r="r" t="t"/>
              <a:pathLst>
                <a:path extrusionOk="0" h="2449322" w="5202809">
                  <a:moveTo>
                    <a:pt x="0" y="425196"/>
                  </a:moveTo>
                  <a:cubicBezTo>
                    <a:pt x="0" y="190119"/>
                    <a:pt x="192659" y="0"/>
                    <a:pt x="429641" y="0"/>
                  </a:cubicBezTo>
                  <a:lnTo>
                    <a:pt x="4773168" y="0"/>
                  </a:lnTo>
                  <a:lnTo>
                    <a:pt x="4773168" y="25400"/>
                  </a:lnTo>
                  <a:lnTo>
                    <a:pt x="4773168" y="0"/>
                  </a:lnTo>
                  <a:cubicBezTo>
                    <a:pt x="5010150" y="0"/>
                    <a:pt x="5202809" y="190119"/>
                    <a:pt x="5202809" y="425196"/>
                  </a:cubicBezTo>
                  <a:lnTo>
                    <a:pt x="5177409" y="425196"/>
                  </a:lnTo>
                  <a:lnTo>
                    <a:pt x="5202809" y="425196"/>
                  </a:lnTo>
                  <a:lnTo>
                    <a:pt x="5202809" y="2024126"/>
                  </a:lnTo>
                  <a:lnTo>
                    <a:pt x="5177409" y="2024126"/>
                  </a:lnTo>
                  <a:lnTo>
                    <a:pt x="5202809" y="2024126"/>
                  </a:lnTo>
                  <a:cubicBezTo>
                    <a:pt x="5202809" y="2259203"/>
                    <a:pt x="5010150" y="2449322"/>
                    <a:pt x="4773168" y="2449322"/>
                  </a:cubicBezTo>
                  <a:lnTo>
                    <a:pt x="4773168" y="2423922"/>
                  </a:lnTo>
                  <a:lnTo>
                    <a:pt x="4773168" y="2449322"/>
                  </a:lnTo>
                  <a:lnTo>
                    <a:pt x="429641" y="2449322"/>
                  </a:lnTo>
                  <a:lnTo>
                    <a:pt x="429641" y="2423922"/>
                  </a:lnTo>
                  <a:lnTo>
                    <a:pt x="429641" y="2449322"/>
                  </a:lnTo>
                  <a:cubicBezTo>
                    <a:pt x="192659" y="2449322"/>
                    <a:pt x="0" y="2259203"/>
                    <a:pt x="0" y="2024126"/>
                  </a:cubicBezTo>
                  <a:lnTo>
                    <a:pt x="0" y="425196"/>
                  </a:lnTo>
                  <a:lnTo>
                    <a:pt x="25400" y="425196"/>
                  </a:lnTo>
                  <a:lnTo>
                    <a:pt x="0" y="425196"/>
                  </a:lnTo>
                  <a:moveTo>
                    <a:pt x="50800" y="425196"/>
                  </a:moveTo>
                  <a:lnTo>
                    <a:pt x="50800" y="2024126"/>
                  </a:lnTo>
                  <a:lnTo>
                    <a:pt x="25400" y="2024126"/>
                  </a:lnTo>
                  <a:lnTo>
                    <a:pt x="50800" y="2024126"/>
                  </a:lnTo>
                  <a:cubicBezTo>
                    <a:pt x="50800" y="2230628"/>
                    <a:pt x="220091" y="2398522"/>
                    <a:pt x="429641" y="2398522"/>
                  </a:cubicBezTo>
                  <a:lnTo>
                    <a:pt x="4773168" y="2398522"/>
                  </a:lnTo>
                  <a:cubicBezTo>
                    <a:pt x="4982718" y="2398522"/>
                    <a:pt x="5152009" y="2230628"/>
                    <a:pt x="5152009" y="2024126"/>
                  </a:cubicBezTo>
                  <a:lnTo>
                    <a:pt x="5152009" y="425196"/>
                  </a:lnTo>
                  <a:cubicBezTo>
                    <a:pt x="5152009" y="218694"/>
                    <a:pt x="4982718" y="50800"/>
                    <a:pt x="4773168" y="50800"/>
                  </a:cubicBezTo>
                  <a:lnTo>
                    <a:pt x="429641" y="50800"/>
                  </a:lnTo>
                  <a:lnTo>
                    <a:pt x="429641" y="25400"/>
                  </a:lnTo>
                  <a:lnTo>
                    <a:pt x="429641" y="50800"/>
                  </a:lnTo>
                  <a:cubicBezTo>
                    <a:pt x="220091" y="50800"/>
                    <a:pt x="50800" y="218694"/>
                    <a:pt x="50800" y="425196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7" name="Google Shape;267;p10"/>
          <p:cNvSpPr/>
          <p:nvPr/>
        </p:nvSpPr>
        <p:spPr>
          <a:xfrm>
            <a:off x="7484188" y="6946312"/>
            <a:ext cx="671084" cy="669227"/>
          </a:xfrm>
          <a:custGeom>
            <a:rect b="b" l="l" r="r" t="t"/>
            <a:pathLst>
              <a:path extrusionOk="0" h="892302" w="894778">
                <a:moveTo>
                  <a:pt x="885317" y="873379"/>
                </a:moveTo>
                <a:lnTo>
                  <a:pt x="885317" y="882904"/>
                </a:lnTo>
                <a:lnTo>
                  <a:pt x="879983" y="890778"/>
                </a:lnTo>
                <a:cubicBezTo>
                  <a:pt x="534289" y="654939"/>
                  <a:pt x="235839" y="356489"/>
                  <a:pt x="0" y="10795"/>
                </a:cubicBezTo>
                <a:lnTo>
                  <a:pt x="15748" y="0"/>
                </a:lnTo>
                <a:cubicBezTo>
                  <a:pt x="250190" y="343662"/>
                  <a:pt x="546989" y="640461"/>
                  <a:pt x="890651" y="874903"/>
                </a:cubicBezTo>
                <a:cubicBezTo>
                  <a:pt x="894080" y="877316"/>
                  <a:pt x="895604" y="881634"/>
                  <a:pt x="894334" y="885571"/>
                </a:cubicBezTo>
                <a:cubicBezTo>
                  <a:pt x="893064" y="889508"/>
                  <a:pt x="889381" y="892302"/>
                  <a:pt x="885190" y="892302"/>
                </a:cubicBezTo>
                <a:close/>
              </a:path>
            </a:pathLst>
          </a:custGeom>
          <a:solidFill>
            <a:srgbClr val="4372C3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8" name="Google Shape;268;p10"/>
          <p:cNvGrpSpPr/>
          <p:nvPr/>
        </p:nvGrpSpPr>
        <p:grpSpPr>
          <a:xfrm>
            <a:off x="4626658" y="5053991"/>
            <a:ext cx="3846766" cy="1907572"/>
            <a:chOff x="0" y="0"/>
            <a:chExt cx="5129022" cy="2543429"/>
          </a:xfrm>
        </p:grpSpPr>
        <p:sp>
          <p:nvSpPr>
            <p:cNvPr id="269" name="Google Shape;269;p10"/>
            <p:cNvSpPr/>
            <p:nvPr/>
          </p:nvSpPr>
          <p:spPr>
            <a:xfrm>
              <a:off x="25400" y="25400"/>
              <a:ext cx="5078222" cy="2492629"/>
            </a:xfrm>
            <a:custGeom>
              <a:rect b="b" l="l" r="r" t="t"/>
              <a:pathLst>
                <a:path extrusionOk="0" h="2492629" w="5078222">
                  <a:moveTo>
                    <a:pt x="0" y="415417"/>
                  </a:moveTo>
                  <a:cubicBezTo>
                    <a:pt x="0" y="186055"/>
                    <a:pt x="187960" y="0"/>
                    <a:pt x="419735" y="0"/>
                  </a:cubicBezTo>
                  <a:lnTo>
                    <a:pt x="4658487" y="0"/>
                  </a:lnTo>
                  <a:cubicBezTo>
                    <a:pt x="4890262" y="0"/>
                    <a:pt x="5078222" y="186055"/>
                    <a:pt x="5078222" y="415417"/>
                  </a:cubicBezTo>
                  <a:lnTo>
                    <a:pt x="5078222" y="2077212"/>
                  </a:lnTo>
                  <a:cubicBezTo>
                    <a:pt x="5078222" y="2306701"/>
                    <a:pt x="4890262" y="2492629"/>
                    <a:pt x="4658487" y="2492629"/>
                  </a:cubicBezTo>
                  <a:lnTo>
                    <a:pt x="419735" y="2492629"/>
                  </a:lnTo>
                  <a:cubicBezTo>
                    <a:pt x="187960" y="2492756"/>
                    <a:pt x="0" y="2306701"/>
                    <a:pt x="0" y="2077212"/>
                  </a:cubicBezTo>
                  <a:close/>
                </a:path>
              </a:pathLst>
            </a:custGeom>
            <a:solidFill>
              <a:srgbClr val="B3C6E7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0" y="0"/>
              <a:ext cx="5129022" cy="2543429"/>
            </a:xfrm>
            <a:custGeom>
              <a:rect b="b" l="l" r="r" t="t"/>
              <a:pathLst>
                <a:path extrusionOk="0" h="2543429" w="5129022">
                  <a:moveTo>
                    <a:pt x="0" y="440817"/>
                  </a:moveTo>
                  <a:cubicBezTo>
                    <a:pt x="0" y="197104"/>
                    <a:pt x="199517" y="0"/>
                    <a:pt x="445135" y="0"/>
                  </a:cubicBezTo>
                  <a:lnTo>
                    <a:pt x="4683887" y="0"/>
                  </a:lnTo>
                  <a:lnTo>
                    <a:pt x="4683887" y="25400"/>
                  </a:lnTo>
                  <a:lnTo>
                    <a:pt x="4683887" y="0"/>
                  </a:lnTo>
                  <a:cubicBezTo>
                    <a:pt x="4929505" y="0"/>
                    <a:pt x="5129022" y="197104"/>
                    <a:pt x="5129022" y="440817"/>
                  </a:cubicBezTo>
                  <a:lnTo>
                    <a:pt x="5103622" y="440817"/>
                  </a:lnTo>
                  <a:lnTo>
                    <a:pt x="5129022" y="440817"/>
                  </a:lnTo>
                  <a:lnTo>
                    <a:pt x="5129022" y="2102612"/>
                  </a:lnTo>
                  <a:lnTo>
                    <a:pt x="5103622" y="2102612"/>
                  </a:lnTo>
                  <a:lnTo>
                    <a:pt x="5129022" y="2102612"/>
                  </a:lnTo>
                  <a:cubicBezTo>
                    <a:pt x="5129022" y="2346325"/>
                    <a:pt x="4929505" y="2543429"/>
                    <a:pt x="4683887" y="2543429"/>
                  </a:cubicBezTo>
                  <a:lnTo>
                    <a:pt x="4683887" y="2518029"/>
                  </a:lnTo>
                  <a:lnTo>
                    <a:pt x="4683887" y="2543429"/>
                  </a:lnTo>
                  <a:lnTo>
                    <a:pt x="445135" y="2543429"/>
                  </a:lnTo>
                  <a:lnTo>
                    <a:pt x="445135" y="2518029"/>
                  </a:lnTo>
                  <a:lnTo>
                    <a:pt x="445135" y="2543429"/>
                  </a:lnTo>
                  <a:cubicBezTo>
                    <a:pt x="199517" y="2543556"/>
                    <a:pt x="0" y="2346325"/>
                    <a:pt x="0" y="2102612"/>
                  </a:cubicBezTo>
                  <a:lnTo>
                    <a:pt x="0" y="440817"/>
                  </a:lnTo>
                  <a:lnTo>
                    <a:pt x="25400" y="440817"/>
                  </a:lnTo>
                  <a:lnTo>
                    <a:pt x="0" y="440817"/>
                  </a:lnTo>
                  <a:moveTo>
                    <a:pt x="50800" y="440817"/>
                  </a:moveTo>
                  <a:lnTo>
                    <a:pt x="50800" y="2102612"/>
                  </a:lnTo>
                  <a:lnTo>
                    <a:pt x="25400" y="2102612"/>
                  </a:lnTo>
                  <a:lnTo>
                    <a:pt x="50800" y="2102612"/>
                  </a:lnTo>
                  <a:cubicBezTo>
                    <a:pt x="50800" y="2317750"/>
                    <a:pt x="227076" y="2492629"/>
                    <a:pt x="445135" y="2492629"/>
                  </a:cubicBezTo>
                  <a:lnTo>
                    <a:pt x="4683887" y="2492629"/>
                  </a:lnTo>
                  <a:cubicBezTo>
                    <a:pt x="4901946" y="2492629"/>
                    <a:pt x="5078222" y="2317750"/>
                    <a:pt x="5078222" y="2102612"/>
                  </a:cubicBezTo>
                  <a:lnTo>
                    <a:pt x="5078222" y="440817"/>
                  </a:lnTo>
                  <a:cubicBezTo>
                    <a:pt x="5078222" y="225679"/>
                    <a:pt x="4901946" y="50800"/>
                    <a:pt x="4683887" y="50800"/>
                  </a:cubicBezTo>
                  <a:lnTo>
                    <a:pt x="445135" y="50800"/>
                  </a:lnTo>
                  <a:lnTo>
                    <a:pt x="445135" y="25400"/>
                  </a:lnTo>
                  <a:lnTo>
                    <a:pt x="445135" y="50800"/>
                  </a:lnTo>
                  <a:cubicBezTo>
                    <a:pt x="227076" y="50800"/>
                    <a:pt x="50800" y="225679"/>
                    <a:pt x="50800" y="440817"/>
                  </a:cubicBezTo>
                  <a:close/>
                </a:path>
              </a:pathLst>
            </a:cu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1" name="Google Shape;271;p10"/>
          <p:cNvSpPr/>
          <p:nvPr/>
        </p:nvSpPr>
        <p:spPr>
          <a:xfrm>
            <a:off x="6726633" y="4527212"/>
            <a:ext cx="310420" cy="547211"/>
          </a:xfrm>
          <a:custGeom>
            <a:rect b="b" l="l" r="r" t="t"/>
            <a:pathLst>
              <a:path extrusionOk="0" h="729615" w="413893">
                <a:moveTo>
                  <a:pt x="8890" y="710565"/>
                </a:moveTo>
                <a:lnTo>
                  <a:pt x="8890" y="720090"/>
                </a:lnTo>
                <a:lnTo>
                  <a:pt x="0" y="716534"/>
                </a:lnTo>
                <a:cubicBezTo>
                  <a:pt x="102997" y="462280"/>
                  <a:pt x="236855" y="221615"/>
                  <a:pt x="398526" y="0"/>
                </a:cubicBezTo>
                <a:lnTo>
                  <a:pt x="413893" y="11176"/>
                </a:lnTo>
                <a:cubicBezTo>
                  <a:pt x="253111" y="231521"/>
                  <a:pt x="120015" y="470789"/>
                  <a:pt x="17653" y="723646"/>
                </a:cubicBezTo>
                <a:cubicBezTo>
                  <a:pt x="16256" y="727202"/>
                  <a:pt x="12700" y="729615"/>
                  <a:pt x="8763" y="729615"/>
                </a:cubicBezTo>
                <a:close/>
              </a:path>
            </a:pathLst>
          </a:custGeom>
          <a:solidFill>
            <a:srgbClr val="8C52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7766273" y="2468025"/>
            <a:ext cx="966074" cy="1179640"/>
          </a:xfrm>
          <a:custGeom>
            <a:rect b="b" l="l" r="r" t="t"/>
            <a:pathLst>
              <a:path extrusionOk="0" h="1421253" w="1275345">
                <a:moveTo>
                  <a:pt x="0" y="0"/>
                </a:moveTo>
                <a:lnTo>
                  <a:pt x="1275346" y="0"/>
                </a:lnTo>
                <a:lnTo>
                  <a:pt x="1275346" y="1421254"/>
                </a:lnTo>
                <a:lnTo>
                  <a:pt x="0" y="14212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0"/>
          <p:cNvSpPr/>
          <p:nvPr/>
        </p:nvSpPr>
        <p:spPr>
          <a:xfrm>
            <a:off x="9705975" y="5143500"/>
            <a:ext cx="1213535" cy="1241530"/>
          </a:xfrm>
          <a:custGeom>
            <a:rect b="b" l="l" r="r" t="t"/>
            <a:pathLst>
              <a:path extrusionOk="0" h="1601974" w="1545905">
                <a:moveTo>
                  <a:pt x="0" y="0"/>
                </a:moveTo>
                <a:lnTo>
                  <a:pt x="1545905" y="0"/>
                </a:lnTo>
                <a:lnTo>
                  <a:pt x="1545905" y="1601974"/>
                </a:lnTo>
                <a:lnTo>
                  <a:pt x="0" y="16019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4" name="Google Shape;274;p10"/>
          <p:cNvSpPr/>
          <p:nvPr/>
        </p:nvSpPr>
        <p:spPr>
          <a:xfrm>
            <a:off x="11478023" y="5985108"/>
            <a:ext cx="964926" cy="975905"/>
          </a:xfrm>
          <a:custGeom>
            <a:rect b="b" l="l" r="r" t="t"/>
            <a:pathLst>
              <a:path extrusionOk="0" h="975905" w="964926">
                <a:moveTo>
                  <a:pt x="0" y="0"/>
                </a:moveTo>
                <a:lnTo>
                  <a:pt x="964926" y="0"/>
                </a:lnTo>
                <a:lnTo>
                  <a:pt x="964926" y="975905"/>
                </a:lnTo>
                <a:lnTo>
                  <a:pt x="0" y="9759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0"/>
          <p:cNvSpPr/>
          <p:nvPr/>
        </p:nvSpPr>
        <p:spPr>
          <a:xfrm>
            <a:off x="12839131" y="5780505"/>
            <a:ext cx="638193" cy="805291"/>
          </a:xfrm>
          <a:custGeom>
            <a:rect b="b" l="l" r="r" t="t"/>
            <a:pathLst>
              <a:path extrusionOk="0" h="805291" w="638193">
                <a:moveTo>
                  <a:pt x="0" y="0"/>
                </a:moveTo>
                <a:lnTo>
                  <a:pt x="638194" y="0"/>
                </a:lnTo>
                <a:lnTo>
                  <a:pt x="638194" y="805291"/>
                </a:lnTo>
                <a:lnTo>
                  <a:pt x="0" y="8052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10"/>
          <p:cNvSpPr/>
          <p:nvPr/>
        </p:nvSpPr>
        <p:spPr>
          <a:xfrm>
            <a:off x="7333577" y="7743123"/>
            <a:ext cx="1212429" cy="1242015"/>
          </a:xfrm>
          <a:custGeom>
            <a:rect b="b" l="l" r="r" t="t"/>
            <a:pathLst>
              <a:path extrusionOk="0" h="1483003" w="1460758">
                <a:moveTo>
                  <a:pt x="0" y="0"/>
                </a:moveTo>
                <a:lnTo>
                  <a:pt x="1460759" y="0"/>
                </a:lnTo>
                <a:lnTo>
                  <a:pt x="1460759" y="1483003"/>
                </a:lnTo>
                <a:lnTo>
                  <a:pt x="0" y="14830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7" name="Google Shape;277;p10"/>
          <p:cNvSpPr/>
          <p:nvPr/>
        </p:nvSpPr>
        <p:spPr>
          <a:xfrm>
            <a:off x="4695950" y="5214406"/>
            <a:ext cx="1076523" cy="1076523"/>
          </a:xfrm>
          <a:custGeom>
            <a:rect b="b" l="l" r="r" t="t"/>
            <a:pathLst>
              <a:path extrusionOk="0" h="1076523" w="1076523">
                <a:moveTo>
                  <a:pt x="0" y="0"/>
                </a:moveTo>
                <a:lnTo>
                  <a:pt x="1076523" y="0"/>
                </a:lnTo>
                <a:lnTo>
                  <a:pt x="1076523" y="1076523"/>
                </a:lnTo>
                <a:lnTo>
                  <a:pt x="0" y="107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10"/>
          <p:cNvSpPr/>
          <p:nvPr/>
        </p:nvSpPr>
        <p:spPr>
          <a:xfrm>
            <a:off x="5721627" y="6159390"/>
            <a:ext cx="611719" cy="627347"/>
          </a:xfrm>
          <a:custGeom>
            <a:rect b="b" l="l" r="r" t="t"/>
            <a:pathLst>
              <a:path extrusionOk="0" h="627347" w="611719">
                <a:moveTo>
                  <a:pt x="0" y="0"/>
                </a:moveTo>
                <a:lnTo>
                  <a:pt x="611719" y="0"/>
                </a:lnTo>
                <a:lnTo>
                  <a:pt x="611719" y="627348"/>
                </a:lnTo>
                <a:lnTo>
                  <a:pt x="0" y="627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-2552" t="0"/>
            </a:stretch>
          </a:blipFill>
          <a:ln>
            <a:noFill/>
          </a:ln>
        </p:spPr>
      </p:sp>
      <p:sp>
        <p:nvSpPr>
          <p:cNvPr id="279" name="Google Shape;279;p10"/>
          <p:cNvSpPr/>
          <p:nvPr/>
        </p:nvSpPr>
        <p:spPr>
          <a:xfrm>
            <a:off x="6542896" y="6290929"/>
            <a:ext cx="560760" cy="563835"/>
          </a:xfrm>
          <a:custGeom>
            <a:rect b="b" l="l" r="r" t="t"/>
            <a:pathLst>
              <a:path extrusionOk="0" h="563835" w="560760">
                <a:moveTo>
                  <a:pt x="0" y="0"/>
                </a:moveTo>
                <a:lnTo>
                  <a:pt x="560760" y="0"/>
                </a:lnTo>
                <a:lnTo>
                  <a:pt x="560760" y="563835"/>
                </a:lnTo>
                <a:lnTo>
                  <a:pt x="0" y="5638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0"/>
          <p:cNvSpPr txBox="1"/>
          <p:nvPr/>
        </p:nvSpPr>
        <p:spPr>
          <a:xfrm>
            <a:off x="295707" y="541942"/>
            <a:ext cx="18105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7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“DISTRIBUIDORA TALAGANTE”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91422" y="1126987"/>
            <a:ext cx="18105000" cy="831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5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Tecnologías utilizadas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82" name="Google Shape;282;p10"/>
          <p:cNvSpPr txBox="1"/>
          <p:nvPr/>
        </p:nvSpPr>
        <p:spPr>
          <a:xfrm>
            <a:off x="7665482" y="4050322"/>
            <a:ext cx="24429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85" u="none" cap="none" strike="noStrike">
                <a:solidFill>
                  <a:srgbClr val="FBFFFF"/>
                </a:solidFill>
                <a:latin typeface="Calibri"/>
                <a:ea typeface="Calibri"/>
                <a:cs typeface="Calibri"/>
                <a:sym typeface="Calibri"/>
              </a:rPr>
              <a:t>HTML Y CSS</a:t>
            </a:r>
            <a:endParaRPr/>
          </a:p>
        </p:txBody>
      </p:sp>
      <p:sp>
        <p:nvSpPr>
          <p:cNvPr id="283" name="Google Shape;283;p10"/>
          <p:cNvSpPr txBox="1"/>
          <p:nvPr/>
        </p:nvSpPr>
        <p:spPr>
          <a:xfrm>
            <a:off x="11006557" y="5067681"/>
            <a:ext cx="23787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BFFFF"/>
                </a:solidFill>
                <a:latin typeface="Calibri"/>
                <a:ea typeface="Calibri"/>
                <a:cs typeface="Calibri"/>
                <a:sym typeface="Calibri"/>
              </a:rPr>
              <a:t>BACKEND Y FRONTEND</a:t>
            </a:r>
            <a:endParaRPr sz="2700"/>
          </a:p>
        </p:txBody>
      </p:sp>
      <p:sp>
        <p:nvSpPr>
          <p:cNvPr id="284" name="Google Shape;284;p10"/>
          <p:cNvSpPr txBox="1"/>
          <p:nvPr/>
        </p:nvSpPr>
        <p:spPr>
          <a:xfrm>
            <a:off x="8473420" y="7785384"/>
            <a:ext cx="2378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BFFFF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sz="2700"/>
          </a:p>
        </p:txBody>
      </p:sp>
      <p:sp>
        <p:nvSpPr>
          <p:cNvPr id="285" name="Google Shape;285;p10"/>
          <p:cNvSpPr txBox="1"/>
          <p:nvPr/>
        </p:nvSpPr>
        <p:spPr>
          <a:xfrm>
            <a:off x="5966573" y="5214403"/>
            <a:ext cx="23787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rgbClr val="FBFFFF"/>
                </a:solidFill>
                <a:latin typeface="Calibri"/>
                <a:ea typeface="Calibri"/>
                <a:cs typeface="Calibri"/>
                <a:sym typeface="Calibri"/>
              </a:rPr>
              <a:t>HERRAMIENTAS Y </a:t>
            </a:r>
            <a:r>
              <a:rPr lang="en-US" sz="2700">
                <a:solidFill>
                  <a:srgbClr val="FBFFFF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endParaRPr sz="2700"/>
          </a:p>
          <a:p>
            <a:pPr indent="0" lvl="0" marL="0" marR="0" rtl="0" algn="ctr">
              <a:lnSpc>
                <a:spcPct val="1199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7" u="none" cap="none" strike="noStrike">
              <a:solidFill>
                <a:srgbClr val="FB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6" name="Google Shape;286;p1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8979697" y="2736732"/>
            <a:ext cx="1076525" cy="1076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623131" y="6285751"/>
            <a:ext cx="720532" cy="57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0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108363" y="8494675"/>
            <a:ext cx="720550" cy="7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0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660901" y="8284752"/>
            <a:ext cx="1212426" cy="5736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298" name="Google Shape;298;p11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299" name="Google Shape;299;p11"/>
          <p:cNvSpPr txBox="1"/>
          <p:nvPr/>
        </p:nvSpPr>
        <p:spPr>
          <a:xfrm>
            <a:off x="91426" y="3964513"/>
            <a:ext cx="18105000" cy="29922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DEMOSTRACIÓN DEL RESULTADO DEL PROYECTO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Plataforma Distribuidora Talagante</a:t>
            </a:r>
            <a:endParaRPr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308" name="Google Shape;308;g3af78b970b4_1_0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9" name="Google Shape;309;g3af78b970b4_1_0"/>
          <p:cNvSpPr txBox="1"/>
          <p:nvPr/>
        </p:nvSpPr>
        <p:spPr>
          <a:xfrm>
            <a:off x="91501" y="1380338"/>
            <a:ext cx="18105000" cy="1434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latin typeface="Comic Sans MS"/>
                <a:ea typeface="Comic Sans MS"/>
                <a:cs typeface="Comic Sans MS"/>
                <a:sym typeface="Comic Sans MS"/>
              </a:rPr>
              <a:t>Plantilla de prueba casos de uso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0" name="Google Shape;310;g3af78b970b4_1_0" title="Caso de prueba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9700" y="2512385"/>
            <a:ext cx="14348599" cy="683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319" name="Google Shape;319;p12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320" name="Google Shape;320;p12"/>
          <p:cNvSpPr txBox="1"/>
          <p:nvPr/>
        </p:nvSpPr>
        <p:spPr>
          <a:xfrm>
            <a:off x="91426" y="2091467"/>
            <a:ext cx="18105000" cy="101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5000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Resultados obtenidos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21" name="Google Shape;321;p12"/>
          <p:cNvGrpSpPr/>
          <p:nvPr/>
        </p:nvGrpSpPr>
        <p:grpSpPr>
          <a:xfrm>
            <a:off x="2775675" y="3789050"/>
            <a:ext cx="11439094" cy="5275829"/>
            <a:chOff x="0" y="-85725"/>
            <a:chExt cx="16745856" cy="7034439"/>
          </a:xfrm>
        </p:grpSpPr>
        <p:sp>
          <p:nvSpPr>
            <p:cNvPr id="322" name="Google Shape;322;p12"/>
            <p:cNvSpPr/>
            <p:nvPr/>
          </p:nvSpPr>
          <p:spPr>
            <a:xfrm>
              <a:off x="12700" y="12700"/>
              <a:ext cx="16720440" cy="6923278"/>
            </a:xfrm>
            <a:custGeom>
              <a:rect b="b" l="l" r="r" t="t"/>
              <a:pathLst>
                <a:path extrusionOk="0" h="6923278" w="16720440">
                  <a:moveTo>
                    <a:pt x="0" y="1153922"/>
                  </a:moveTo>
                  <a:cubicBezTo>
                    <a:pt x="0" y="516636"/>
                    <a:pt x="517779" y="0"/>
                    <a:pt x="1156335" y="0"/>
                  </a:cubicBezTo>
                  <a:lnTo>
                    <a:pt x="15564104" y="0"/>
                  </a:lnTo>
                  <a:cubicBezTo>
                    <a:pt x="16202788" y="0"/>
                    <a:pt x="16720440" y="516636"/>
                    <a:pt x="16720440" y="1153922"/>
                  </a:cubicBezTo>
                  <a:lnTo>
                    <a:pt x="16720440" y="5769356"/>
                  </a:lnTo>
                  <a:cubicBezTo>
                    <a:pt x="16720440" y="6406642"/>
                    <a:pt x="16202661" y="6923278"/>
                    <a:pt x="15564104" y="6923278"/>
                  </a:cubicBezTo>
                  <a:lnTo>
                    <a:pt x="1156335" y="6923278"/>
                  </a:lnTo>
                  <a:cubicBezTo>
                    <a:pt x="517779" y="6923278"/>
                    <a:pt x="0" y="6406642"/>
                    <a:pt x="0" y="5769356"/>
                  </a:cubicBezTo>
                  <a:close/>
                </a:path>
              </a:pathLst>
            </a:custGeom>
            <a:solidFill>
              <a:srgbClr val="65CF7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2"/>
            <p:cNvSpPr/>
            <p:nvPr/>
          </p:nvSpPr>
          <p:spPr>
            <a:xfrm>
              <a:off x="0" y="0"/>
              <a:ext cx="16745840" cy="6948678"/>
            </a:xfrm>
            <a:custGeom>
              <a:rect b="b" l="l" r="r" t="t"/>
              <a:pathLst>
                <a:path extrusionOk="0" h="6948678" w="16745840">
                  <a:moveTo>
                    <a:pt x="0" y="1166622"/>
                  </a:moveTo>
                  <a:cubicBezTo>
                    <a:pt x="0" y="522224"/>
                    <a:pt x="523494" y="0"/>
                    <a:pt x="1169035" y="0"/>
                  </a:cubicBezTo>
                  <a:lnTo>
                    <a:pt x="15576804" y="0"/>
                  </a:lnTo>
                  <a:lnTo>
                    <a:pt x="15576804" y="12700"/>
                  </a:lnTo>
                  <a:lnTo>
                    <a:pt x="15576804" y="0"/>
                  </a:lnTo>
                  <a:cubicBezTo>
                    <a:pt x="16222472" y="0"/>
                    <a:pt x="16745840" y="522224"/>
                    <a:pt x="16745840" y="1166622"/>
                  </a:cubicBezTo>
                  <a:lnTo>
                    <a:pt x="16733140" y="1166622"/>
                  </a:lnTo>
                  <a:lnTo>
                    <a:pt x="16745840" y="1166622"/>
                  </a:lnTo>
                  <a:lnTo>
                    <a:pt x="16745840" y="5782056"/>
                  </a:lnTo>
                  <a:lnTo>
                    <a:pt x="16733140" y="5782056"/>
                  </a:lnTo>
                  <a:lnTo>
                    <a:pt x="16745840" y="5782056"/>
                  </a:lnTo>
                  <a:cubicBezTo>
                    <a:pt x="16745840" y="6426327"/>
                    <a:pt x="16222345" y="6948678"/>
                    <a:pt x="15576804" y="6948678"/>
                  </a:cubicBezTo>
                  <a:lnTo>
                    <a:pt x="15576804" y="6935978"/>
                  </a:lnTo>
                  <a:lnTo>
                    <a:pt x="15576804" y="6948678"/>
                  </a:lnTo>
                  <a:lnTo>
                    <a:pt x="1169035" y="6948678"/>
                  </a:lnTo>
                  <a:lnTo>
                    <a:pt x="1169035" y="6935978"/>
                  </a:lnTo>
                  <a:lnTo>
                    <a:pt x="1169035" y="6948678"/>
                  </a:lnTo>
                  <a:cubicBezTo>
                    <a:pt x="523494" y="6948678"/>
                    <a:pt x="0" y="6426454"/>
                    <a:pt x="0" y="5782056"/>
                  </a:cubicBezTo>
                  <a:lnTo>
                    <a:pt x="0" y="1166622"/>
                  </a:lnTo>
                  <a:lnTo>
                    <a:pt x="12700" y="1166622"/>
                  </a:lnTo>
                  <a:lnTo>
                    <a:pt x="0" y="1166622"/>
                  </a:lnTo>
                  <a:moveTo>
                    <a:pt x="25400" y="1166622"/>
                  </a:moveTo>
                  <a:lnTo>
                    <a:pt x="25400" y="5782056"/>
                  </a:lnTo>
                  <a:lnTo>
                    <a:pt x="12700" y="5782056"/>
                  </a:lnTo>
                  <a:lnTo>
                    <a:pt x="25400" y="5782056"/>
                  </a:lnTo>
                  <a:cubicBezTo>
                    <a:pt x="25400" y="6412357"/>
                    <a:pt x="537464" y="6923278"/>
                    <a:pt x="1169035" y="6923278"/>
                  </a:cubicBezTo>
                  <a:lnTo>
                    <a:pt x="15576804" y="6923278"/>
                  </a:lnTo>
                  <a:cubicBezTo>
                    <a:pt x="16208502" y="6923278"/>
                    <a:pt x="16720440" y="6412357"/>
                    <a:pt x="16720440" y="5782056"/>
                  </a:cubicBezTo>
                  <a:lnTo>
                    <a:pt x="16720440" y="1166622"/>
                  </a:lnTo>
                  <a:cubicBezTo>
                    <a:pt x="16720440" y="536321"/>
                    <a:pt x="16208375" y="25400"/>
                    <a:pt x="15576804" y="25400"/>
                  </a:cubicBezTo>
                  <a:lnTo>
                    <a:pt x="1169035" y="25400"/>
                  </a:lnTo>
                  <a:lnTo>
                    <a:pt x="1169035" y="12700"/>
                  </a:lnTo>
                  <a:lnTo>
                    <a:pt x="1169035" y="25400"/>
                  </a:lnTo>
                  <a:cubicBezTo>
                    <a:pt x="537464" y="25400"/>
                    <a:pt x="25400" y="536321"/>
                    <a:pt x="25400" y="1166622"/>
                  </a:cubicBez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2"/>
            <p:cNvSpPr txBox="1"/>
            <p:nvPr/>
          </p:nvSpPr>
          <p:spPr>
            <a:xfrm>
              <a:off x="0" y="-85725"/>
              <a:ext cx="16745856" cy="7034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380047" lvl="1" marL="76009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Sistema desplegado y funcional.</a:t>
              </a:r>
              <a:endParaRPr/>
            </a:p>
            <a:p>
              <a:pPr indent="-380047" lvl="1" marL="76009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Inventario actualizado en tiempo real.</a:t>
              </a:r>
              <a:endParaRPr/>
            </a:p>
            <a:p>
              <a:pPr indent="-380047" lvl="1" marL="76009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Panel administrador intuitivo.</a:t>
              </a:r>
              <a:endParaRPr/>
            </a:p>
            <a:p>
              <a:pPr indent="-380047" lvl="1" marL="760095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4200"/>
                <a:buFont typeface="Arial"/>
                <a:buChar char="•"/>
              </a:pPr>
              <a:r>
                <a:rPr b="0" i="0" lang="en-US" sz="42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Plataforma amigable para el Propietario de la distribuidora y sus clientes asociados</a:t>
              </a:r>
              <a:endParaRPr/>
            </a:p>
          </p:txBody>
        </p:sp>
      </p:grpSp>
      <p:pic>
        <p:nvPicPr>
          <p:cNvPr id="325" name="Google Shape;325;p12" title="Check-Mark-Isolated-Icon.-Checklist-button-icon.-Check-mark-tick-vector-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359936">
            <a:off x="12241098" y="3401667"/>
            <a:ext cx="3483674" cy="3483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334" name="Google Shape;334;p13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335" name="Google Shape;335;p13"/>
          <p:cNvSpPr txBox="1"/>
          <p:nvPr/>
        </p:nvSpPr>
        <p:spPr>
          <a:xfrm>
            <a:off x="91426" y="1943985"/>
            <a:ext cx="18105000" cy="1015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Obstáculos presentados durante el desarrollo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336" name="Google Shape;336;p13"/>
          <p:cNvGrpSpPr/>
          <p:nvPr/>
        </p:nvGrpSpPr>
        <p:grpSpPr>
          <a:xfrm>
            <a:off x="1222116" y="3839352"/>
            <a:ext cx="8276654" cy="3261836"/>
            <a:chOff x="0" y="0"/>
            <a:chExt cx="11035538" cy="4349115"/>
          </a:xfrm>
        </p:grpSpPr>
        <p:sp>
          <p:nvSpPr>
            <p:cNvPr id="337" name="Google Shape;337;p13"/>
            <p:cNvSpPr/>
            <p:nvPr/>
          </p:nvSpPr>
          <p:spPr>
            <a:xfrm>
              <a:off x="12700" y="12700"/>
              <a:ext cx="11010138" cy="4323715"/>
            </a:xfrm>
            <a:custGeom>
              <a:rect b="b" l="l" r="r" t="t"/>
              <a:pathLst>
                <a:path extrusionOk="0" h="4323715" w="11010138">
                  <a:moveTo>
                    <a:pt x="0" y="720598"/>
                  </a:moveTo>
                  <a:cubicBezTo>
                    <a:pt x="0" y="322580"/>
                    <a:pt x="323850" y="0"/>
                    <a:pt x="723265" y="0"/>
                  </a:cubicBezTo>
                  <a:lnTo>
                    <a:pt x="10286873" y="0"/>
                  </a:lnTo>
                  <a:cubicBezTo>
                    <a:pt x="10686288" y="0"/>
                    <a:pt x="11010138" y="322580"/>
                    <a:pt x="11010138" y="720598"/>
                  </a:cubicBezTo>
                  <a:lnTo>
                    <a:pt x="11010138" y="3603117"/>
                  </a:lnTo>
                  <a:cubicBezTo>
                    <a:pt x="11010138" y="4001135"/>
                    <a:pt x="10686288" y="4323715"/>
                    <a:pt x="10286873" y="4323715"/>
                  </a:cubicBezTo>
                  <a:lnTo>
                    <a:pt x="723265" y="4323715"/>
                  </a:lnTo>
                  <a:cubicBezTo>
                    <a:pt x="323850" y="4323715"/>
                    <a:pt x="0" y="4001135"/>
                    <a:pt x="0" y="3603117"/>
                  </a:cubicBezTo>
                  <a:close/>
                </a:path>
              </a:pathLst>
            </a:custGeom>
            <a:solidFill>
              <a:srgbClr val="F2A54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3"/>
            <p:cNvSpPr/>
            <p:nvPr/>
          </p:nvSpPr>
          <p:spPr>
            <a:xfrm>
              <a:off x="0" y="0"/>
              <a:ext cx="11035538" cy="4349115"/>
            </a:xfrm>
            <a:custGeom>
              <a:rect b="b" l="l" r="r" t="t"/>
              <a:pathLst>
                <a:path extrusionOk="0" h="4349115" w="11035538">
                  <a:moveTo>
                    <a:pt x="0" y="733298"/>
                  </a:moveTo>
                  <a:cubicBezTo>
                    <a:pt x="0" y="328295"/>
                    <a:pt x="329565" y="0"/>
                    <a:pt x="735965" y="0"/>
                  </a:cubicBezTo>
                  <a:lnTo>
                    <a:pt x="10299573" y="0"/>
                  </a:lnTo>
                  <a:lnTo>
                    <a:pt x="10299573" y="12700"/>
                  </a:lnTo>
                  <a:lnTo>
                    <a:pt x="10299573" y="0"/>
                  </a:lnTo>
                  <a:cubicBezTo>
                    <a:pt x="10705973" y="0"/>
                    <a:pt x="11035538" y="328295"/>
                    <a:pt x="11035538" y="733298"/>
                  </a:cubicBezTo>
                  <a:lnTo>
                    <a:pt x="11022838" y="733298"/>
                  </a:lnTo>
                  <a:lnTo>
                    <a:pt x="11035538" y="733298"/>
                  </a:lnTo>
                  <a:lnTo>
                    <a:pt x="11035538" y="3615817"/>
                  </a:lnTo>
                  <a:lnTo>
                    <a:pt x="11022838" y="3615817"/>
                  </a:lnTo>
                  <a:lnTo>
                    <a:pt x="11035538" y="3615817"/>
                  </a:lnTo>
                  <a:cubicBezTo>
                    <a:pt x="11035538" y="4020820"/>
                    <a:pt x="10705973" y="4349115"/>
                    <a:pt x="10299573" y="4349115"/>
                  </a:cubicBezTo>
                  <a:lnTo>
                    <a:pt x="10299573" y="4336415"/>
                  </a:lnTo>
                  <a:lnTo>
                    <a:pt x="10299573" y="4349115"/>
                  </a:lnTo>
                  <a:lnTo>
                    <a:pt x="735965" y="4349115"/>
                  </a:lnTo>
                  <a:lnTo>
                    <a:pt x="735965" y="4336415"/>
                  </a:lnTo>
                  <a:lnTo>
                    <a:pt x="735965" y="4349115"/>
                  </a:lnTo>
                  <a:cubicBezTo>
                    <a:pt x="329565" y="4349115"/>
                    <a:pt x="0" y="4020820"/>
                    <a:pt x="0" y="3615817"/>
                  </a:cubicBezTo>
                  <a:lnTo>
                    <a:pt x="0" y="733298"/>
                  </a:lnTo>
                  <a:lnTo>
                    <a:pt x="12700" y="733298"/>
                  </a:lnTo>
                  <a:lnTo>
                    <a:pt x="0" y="733298"/>
                  </a:lnTo>
                  <a:moveTo>
                    <a:pt x="25400" y="733298"/>
                  </a:moveTo>
                  <a:lnTo>
                    <a:pt x="25400" y="3615817"/>
                  </a:lnTo>
                  <a:lnTo>
                    <a:pt x="12700" y="3615817"/>
                  </a:lnTo>
                  <a:lnTo>
                    <a:pt x="25400" y="3615817"/>
                  </a:lnTo>
                  <a:cubicBezTo>
                    <a:pt x="25400" y="4006723"/>
                    <a:pt x="343408" y="4323715"/>
                    <a:pt x="735965" y="4323715"/>
                  </a:cubicBezTo>
                  <a:lnTo>
                    <a:pt x="10299573" y="4323715"/>
                  </a:lnTo>
                  <a:cubicBezTo>
                    <a:pt x="10692003" y="4323715"/>
                    <a:pt x="11010138" y="4006723"/>
                    <a:pt x="11010138" y="3615817"/>
                  </a:cubicBezTo>
                  <a:lnTo>
                    <a:pt x="11010138" y="733298"/>
                  </a:lnTo>
                  <a:cubicBezTo>
                    <a:pt x="11010138" y="342392"/>
                    <a:pt x="10692003" y="25400"/>
                    <a:pt x="10299573" y="25400"/>
                  </a:cubicBezTo>
                  <a:lnTo>
                    <a:pt x="735965" y="25400"/>
                  </a:lnTo>
                  <a:lnTo>
                    <a:pt x="735965" y="12700"/>
                  </a:lnTo>
                  <a:lnTo>
                    <a:pt x="735965" y="25400"/>
                  </a:lnTo>
                  <a:cubicBezTo>
                    <a:pt x="343408" y="25400"/>
                    <a:pt x="25400" y="342392"/>
                    <a:pt x="25400" y="733298"/>
                  </a:cubicBezTo>
                  <a:close/>
                </a:path>
              </a:pathLst>
            </a:custGeom>
            <a:solidFill>
              <a:srgbClr val="1C3052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9" name="Google Shape;339;p13"/>
          <p:cNvSpPr txBox="1"/>
          <p:nvPr/>
        </p:nvSpPr>
        <p:spPr>
          <a:xfrm>
            <a:off x="1599486" y="4182068"/>
            <a:ext cx="8963481" cy="25972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 iniciales con configuración de Render.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Manejo de archivos estáticos.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APIS innovadoras pero inaccesibles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Ajustes en la verificación por correo.</a:t>
            </a:r>
            <a:endParaRPr/>
          </a:p>
          <a:p>
            <a:pPr indent="-244316" lvl="1" marL="48863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Char char="•"/>
            </a:pPr>
            <a:r>
              <a:rPr b="0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Problemas con el Cronograma</a:t>
            </a:r>
            <a:endParaRPr/>
          </a:p>
          <a:p>
            <a:pPr indent="-190024" lvl="1" marL="380048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0" name="Google Shape;340;p13"/>
          <p:cNvGrpSpPr/>
          <p:nvPr/>
        </p:nvGrpSpPr>
        <p:grpSpPr>
          <a:xfrm>
            <a:off x="8873412" y="4309867"/>
            <a:ext cx="7737349" cy="5662232"/>
            <a:chOff x="0" y="-57150"/>
            <a:chExt cx="10316464" cy="7549642"/>
          </a:xfrm>
        </p:grpSpPr>
        <p:sp>
          <p:nvSpPr>
            <p:cNvPr id="341" name="Google Shape;341;p13"/>
            <p:cNvSpPr/>
            <p:nvPr/>
          </p:nvSpPr>
          <p:spPr>
            <a:xfrm>
              <a:off x="0" y="0"/>
              <a:ext cx="10316464" cy="7492492"/>
            </a:xfrm>
            <a:custGeom>
              <a:rect b="b" l="l" r="r" t="t"/>
              <a:pathLst>
                <a:path extrusionOk="0" h="7492492" w="10316464">
                  <a:moveTo>
                    <a:pt x="0" y="1248791"/>
                  </a:moveTo>
                  <a:cubicBezTo>
                    <a:pt x="0" y="559054"/>
                    <a:pt x="559054" y="0"/>
                    <a:pt x="1248791" y="0"/>
                  </a:cubicBezTo>
                  <a:lnTo>
                    <a:pt x="9067673" y="0"/>
                  </a:lnTo>
                  <a:cubicBezTo>
                    <a:pt x="9757410" y="0"/>
                    <a:pt x="10316464" y="559054"/>
                    <a:pt x="10316464" y="1248791"/>
                  </a:cubicBezTo>
                  <a:lnTo>
                    <a:pt x="10316464" y="6243701"/>
                  </a:lnTo>
                  <a:cubicBezTo>
                    <a:pt x="10316464" y="6933438"/>
                    <a:pt x="9757410" y="7492492"/>
                    <a:pt x="9067673" y="7492492"/>
                  </a:cubicBezTo>
                  <a:lnTo>
                    <a:pt x="1248791" y="7492492"/>
                  </a:lnTo>
                  <a:cubicBezTo>
                    <a:pt x="559054" y="7492492"/>
                    <a:pt x="0" y="6933438"/>
                    <a:pt x="0" y="6243701"/>
                  </a:cubicBezTo>
                  <a:close/>
                </a:path>
              </a:pathLst>
            </a:custGeom>
            <a:solidFill>
              <a:srgbClr val="757070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3"/>
            <p:cNvSpPr txBox="1"/>
            <p:nvPr/>
          </p:nvSpPr>
          <p:spPr>
            <a:xfrm>
              <a:off x="0" y="-57150"/>
              <a:ext cx="10316390" cy="75496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Priorizar APIs estables y con soporte</a:t>
              </a:r>
              <a:endParaRPr/>
            </a:p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Realizar pruebas en sandbox antes de integrarlas</a:t>
              </a:r>
              <a:endParaRPr/>
            </a:p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Migrar a un servicio profesional (SendGrid/Mailgun)</a:t>
              </a:r>
              <a:endParaRPr/>
            </a:p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Implementar SPF/DKIM para mejorar entregabilidad</a:t>
              </a:r>
              <a:endParaRPr/>
            </a:p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Planificación basada en capacidad real</a:t>
              </a:r>
              <a:endParaRPr/>
            </a:p>
            <a:p>
              <a:pPr indent="-244316" lvl="1" marL="488632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700"/>
                <a:buFont typeface="Arial"/>
                <a:buChar char="•"/>
              </a:pPr>
              <a:r>
                <a:rPr b="0" i="0" lang="en-US" sz="27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Dividir tareas grandes en entregables pequeños</a:t>
              </a:r>
              <a:endParaRPr/>
            </a:p>
          </p:txBody>
        </p:sp>
      </p:grpSp>
      <p:sp>
        <p:nvSpPr>
          <p:cNvPr id="343" name="Google Shape;343;p13"/>
          <p:cNvSpPr txBox="1"/>
          <p:nvPr/>
        </p:nvSpPr>
        <p:spPr>
          <a:xfrm>
            <a:off x="10745817" y="4447805"/>
            <a:ext cx="353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Soluciones Futuras</a:t>
            </a:r>
            <a:endParaRPr u="sng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344" name="Google Shape;344;p13" title="Sad Face Emoji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1400" y="5257799"/>
            <a:ext cx="1264925" cy="12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3" title="—Pngtree—creative idea icon_100430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92350" y="3839361"/>
            <a:ext cx="1931676" cy="1931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scuelaIT Duoc UC - Escuela de Informática y Telecomunicaciones Duoc UC - Duoc  UC | LinkedIn" id="354" name="Google Shape;354;p14"/>
          <p:cNvSpPr/>
          <p:nvPr/>
        </p:nvSpPr>
        <p:spPr>
          <a:xfrm>
            <a:off x="13158228" y="311325"/>
            <a:ext cx="4712113" cy="1178052"/>
          </a:xfrm>
          <a:custGeom>
            <a:rect b="b" l="l" r="r" t="t"/>
            <a:pathLst>
              <a:path extrusionOk="0" h="1570736" w="6282817">
                <a:moveTo>
                  <a:pt x="0" y="0"/>
                </a:moveTo>
                <a:lnTo>
                  <a:pt x="6282817" y="0"/>
                </a:lnTo>
                <a:lnTo>
                  <a:pt x="6282817" y="1570736"/>
                </a:lnTo>
                <a:lnTo>
                  <a:pt x="0" y="1570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1" l="0" r="0" t="0"/>
            </a:stretch>
          </a:blipFill>
          <a:ln>
            <a:noFill/>
          </a:ln>
        </p:spPr>
      </p:sp>
      <p:sp>
        <p:nvSpPr>
          <p:cNvPr id="355" name="Google Shape;355;p14"/>
          <p:cNvSpPr txBox="1"/>
          <p:nvPr/>
        </p:nvSpPr>
        <p:spPr>
          <a:xfrm>
            <a:off x="91500" y="2907143"/>
            <a:ext cx="18105000" cy="22350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latin typeface="Comic Sans MS"/>
                <a:ea typeface="Comic Sans MS"/>
                <a:cs typeface="Comic Sans MS"/>
                <a:sym typeface="Comic Sans MS"/>
              </a:rPr>
              <a:t> AGRADECIMIENTO Y </a:t>
            </a:r>
            <a:br>
              <a:rPr lang="en-US" sz="6600"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i="0" lang="en-US" sz="66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PREGUNTAS DE LA COMISIÓN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