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" charset="1" panose="020F0502020204030204"/>
      <p:regular r:id="rId23"/>
    </p:embeddedFont>
    <p:embeddedFont>
      <p:font typeface="Rubik" charset="1" panose="00000000000000000000"/>
      <p:regular r:id="rId25"/>
    </p:embeddedFont>
    <p:embeddedFont>
      <p:font typeface="Calibri (MS) Bold" charset="1" panose="020F070203040403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26" y="3964513"/>
            <a:ext cx="18105148" cy="17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28704" y="1010818"/>
            <a:ext cx="5230592" cy="182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INTEGRANTES DEL PROYECTO</a:t>
            </a:r>
          </a:p>
        </p:txBody>
      </p:sp>
      <p:sp>
        <p:nvSpPr>
          <p:cNvPr name="AutoShape 5" id="5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274837" y="7160100"/>
            <a:ext cx="3948242" cy="822833"/>
            <a:chOff x="0" y="0"/>
            <a:chExt cx="1039866" cy="2167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9866" cy="216713"/>
            </a:xfrm>
            <a:custGeom>
              <a:avLst/>
              <a:gdLst/>
              <a:ahLst/>
              <a:cxnLst/>
              <a:rect r="r" b="b" t="t" l="l"/>
              <a:pathLst>
                <a:path h="216713" w="1039866">
                  <a:moveTo>
                    <a:pt x="108357" y="0"/>
                  </a:moveTo>
                  <a:lnTo>
                    <a:pt x="931510" y="0"/>
                  </a:lnTo>
                  <a:cubicBezTo>
                    <a:pt x="991353" y="0"/>
                    <a:pt x="1039866" y="48513"/>
                    <a:pt x="1039866" y="108357"/>
                  </a:cubicBezTo>
                  <a:lnTo>
                    <a:pt x="1039866" y="108357"/>
                  </a:lnTo>
                  <a:cubicBezTo>
                    <a:pt x="1039866" y="137095"/>
                    <a:pt x="1028450" y="164655"/>
                    <a:pt x="1008129" y="184976"/>
                  </a:cubicBezTo>
                  <a:cubicBezTo>
                    <a:pt x="987809" y="205297"/>
                    <a:pt x="960248" y="216713"/>
                    <a:pt x="931510" y="216713"/>
                  </a:cubicBezTo>
                  <a:lnTo>
                    <a:pt x="108357" y="216713"/>
                  </a:lnTo>
                  <a:cubicBezTo>
                    <a:pt x="79619" y="216713"/>
                    <a:pt x="52058" y="205297"/>
                    <a:pt x="31737" y="184976"/>
                  </a:cubicBezTo>
                  <a:cubicBezTo>
                    <a:pt x="11416" y="164655"/>
                    <a:pt x="0" y="137095"/>
                    <a:pt x="0" y="108357"/>
                  </a:cubicBezTo>
                  <a:lnTo>
                    <a:pt x="0" y="108357"/>
                  </a:lnTo>
                  <a:cubicBezTo>
                    <a:pt x="0" y="79619"/>
                    <a:pt x="11416" y="52058"/>
                    <a:pt x="31737" y="31737"/>
                  </a:cubicBezTo>
                  <a:cubicBezTo>
                    <a:pt x="52058" y="11416"/>
                    <a:pt x="79619" y="0"/>
                    <a:pt x="108357" y="0"/>
                  </a:cubicBezTo>
                  <a:close/>
                </a:path>
              </a:pathLst>
            </a:custGeom>
            <a:solidFill>
              <a:srgbClr val="BCACF6"/>
            </a:solidFill>
            <a:ln w="38100" cap="rnd">
              <a:solidFill>
                <a:srgbClr val="1A1A1A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39866" cy="2643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799"/>
                </a:lnSpc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CLAUDIO DURÁN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274837" y="8190765"/>
            <a:ext cx="394824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👉Desarrollador Front-end</a:t>
            </a:r>
          </a:p>
          <a:p>
            <a:pPr algn="l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</a:t>
            </a: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Encargado de la parte</a:t>
            </a:r>
          </a:p>
          <a:p>
            <a:pPr algn="l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     visual de la plataforma.</a:t>
            </a:r>
          </a:p>
          <a:p>
            <a:pPr algn="just">
              <a:lnSpc>
                <a:spcPts val="279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374160" y="7160100"/>
            <a:ext cx="3948242" cy="822833"/>
            <a:chOff x="0" y="0"/>
            <a:chExt cx="1039866" cy="2167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9866" cy="216713"/>
            </a:xfrm>
            <a:custGeom>
              <a:avLst/>
              <a:gdLst/>
              <a:ahLst/>
              <a:cxnLst/>
              <a:rect r="r" b="b" t="t" l="l"/>
              <a:pathLst>
                <a:path h="216713" w="1039866">
                  <a:moveTo>
                    <a:pt x="108357" y="0"/>
                  </a:moveTo>
                  <a:lnTo>
                    <a:pt x="931510" y="0"/>
                  </a:lnTo>
                  <a:cubicBezTo>
                    <a:pt x="991353" y="0"/>
                    <a:pt x="1039866" y="48513"/>
                    <a:pt x="1039866" y="108357"/>
                  </a:cubicBezTo>
                  <a:lnTo>
                    <a:pt x="1039866" y="108357"/>
                  </a:lnTo>
                  <a:cubicBezTo>
                    <a:pt x="1039866" y="137095"/>
                    <a:pt x="1028450" y="164655"/>
                    <a:pt x="1008129" y="184976"/>
                  </a:cubicBezTo>
                  <a:cubicBezTo>
                    <a:pt x="987809" y="205297"/>
                    <a:pt x="960248" y="216713"/>
                    <a:pt x="931510" y="216713"/>
                  </a:cubicBezTo>
                  <a:lnTo>
                    <a:pt x="108357" y="216713"/>
                  </a:lnTo>
                  <a:cubicBezTo>
                    <a:pt x="79619" y="216713"/>
                    <a:pt x="52058" y="205297"/>
                    <a:pt x="31737" y="184976"/>
                  </a:cubicBezTo>
                  <a:cubicBezTo>
                    <a:pt x="11416" y="164655"/>
                    <a:pt x="0" y="137095"/>
                    <a:pt x="0" y="108357"/>
                  </a:cubicBezTo>
                  <a:lnTo>
                    <a:pt x="0" y="108357"/>
                  </a:lnTo>
                  <a:cubicBezTo>
                    <a:pt x="0" y="79619"/>
                    <a:pt x="11416" y="52058"/>
                    <a:pt x="31737" y="31737"/>
                  </a:cubicBezTo>
                  <a:cubicBezTo>
                    <a:pt x="52058" y="11416"/>
                    <a:pt x="79619" y="0"/>
                    <a:pt x="108357" y="0"/>
                  </a:cubicBezTo>
                  <a:close/>
                </a:path>
              </a:pathLst>
            </a:custGeom>
            <a:solidFill>
              <a:srgbClr val="F0B8E8"/>
            </a:solidFill>
            <a:ln w="38100" cap="rnd">
              <a:solidFill>
                <a:srgbClr val="1A1A1A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39866" cy="2643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799"/>
                </a:lnSpc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FABRIZZIO GÓMEZ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374160" y="8190765"/>
            <a:ext cx="3948242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👉Desarrollador full stack</a:t>
            </a:r>
          </a:p>
          <a:p>
            <a:pPr algn="l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</a:t>
            </a: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Encargado del back-end,       </a:t>
            </a:r>
          </a:p>
          <a:p>
            <a:pPr algn="just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     </a:t>
            </a: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front-end</a:t>
            </a: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 y BD</a:t>
            </a:r>
          </a:p>
          <a:p>
            <a:pPr algn="just">
              <a:lnSpc>
                <a:spcPts val="279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978698" y="7160100"/>
            <a:ext cx="3948242" cy="822833"/>
            <a:chOff x="0" y="0"/>
            <a:chExt cx="1039866" cy="2167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9866" cy="216713"/>
            </a:xfrm>
            <a:custGeom>
              <a:avLst/>
              <a:gdLst/>
              <a:ahLst/>
              <a:cxnLst/>
              <a:rect r="r" b="b" t="t" l="l"/>
              <a:pathLst>
                <a:path h="216713" w="1039866">
                  <a:moveTo>
                    <a:pt x="108357" y="0"/>
                  </a:moveTo>
                  <a:lnTo>
                    <a:pt x="931510" y="0"/>
                  </a:lnTo>
                  <a:cubicBezTo>
                    <a:pt x="991353" y="0"/>
                    <a:pt x="1039866" y="48513"/>
                    <a:pt x="1039866" y="108357"/>
                  </a:cubicBezTo>
                  <a:lnTo>
                    <a:pt x="1039866" y="108357"/>
                  </a:lnTo>
                  <a:cubicBezTo>
                    <a:pt x="1039866" y="137095"/>
                    <a:pt x="1028450" y="164655"/>
                    <a:pt x="1008129" y="184976"/>
                  </a:cubicBezTo>
                  <a:cubicBezTo>
                    <a:pt x="987809" y="205297"/>
                    <a:pt x="960248" y="216713"/>
                    <a:pt x="931510" y="216713"/>
                  </a:cubicBezTo>
                  <a:lnTo>
                    <a:pt x="108357" y="216713"/>
                  </a:lnTo>
                  <a:cubicBezTo>
                    <a:pt x="79619" y="216713"/>
                    <a:pt x="52058" y="205297"/>
                    <a:pt x="31737" y="184976"/>
                  </a:cubicBezTo>
                  <a:cubicBezTo>
                    <a:pt x="11416" y="164655"/>
                    <a:pt x="0" y="137095"/>
                    <a:pt x="0" y="108357"/>
                  </a:cubicBezTo>
                  <a:lnTo>
                    <a:pt x="0" y="108357"/>
                  </a:lnTo>
                  <a:cubicBezTo>
                    <a:pt x="0" y="79619"/>
                    <a:pt x="11416" y="52058"/>
                    <a:pt x="31737" y="31737"/>
                  </a:cubicBezTo>
                  <a:cubicBezTo>
                    <a:pt x="52058" y="11416"/>
                    <a:pt x="79619" y="0"/>
                    <a:pt x="108357" y="0"/>
                  </a:cubicBezTo>
                  <a:close/>
                </a:path>
              </a:pathLst>
            </a:custGeom>
            <a:solidFill>
              <a:srgbClr val="FFDF36"/>
            </a:solidFill>
            <a:ln w="38100" cap="rnd">
              <a:solidFill>
                <a:srgbClr val="1A1A1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39866" cy="26433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799"/>
                </a:lnSpc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VALENTINA VERA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00636" y="8190765"/>
            <a:ext cx="4902180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👉Scrum master, Desarrolladora.</a:t>
            </a:r>
          </a:p>
          <a:p>
            <a:pPr algn="just">
              <a:lnSpc>
                <a:spcPts val="2799"/>
              </a:lnSpc>
            </a:pP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</a:t>
            </a:r>
            <a:r>
              <a:rPr lang="en-US" sz="1999" spc="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Facilitación de Scrum/</a:t>
            </a:r>
          </a:p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Comun</a:t>
            </a:r>
            <a:r>
              <a:rPr lang="en-US" sz="19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icación directa con el cliente.</a:t>
            </a:r>
          </a:p>
          <a:p>
            <a:pPr algn="ctr">
              <a:lnSpc>
                <a:spcPts val="279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2887118"/>
            <a:ext cx="6542107" cy="6990655"/>
            <a:chOff x="0" y="0"/>
            <a:chExt cx="1723024" cy="1841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23024" cy="1841160"/>
            </a:xfrm>
            <a:custGeom>
              <a:avLst/>
              <a:gdLst/>
              <a:ahLst/>
              <a:cxnLst/>
              <a:rect r="r" b="b" t="t" l="l"/>
              <a:pathLst>
                <a:path h="1841160" w="1723024">
                  <a:moveTo>
                    <a:pt x="60353" y="0"/>
                  </a:moveTo>
                  <a:lnTo>
                    <a:pt x="1662671" y="0"/>
                  </a:lnTo>
                  <a:cubicBezTo>
                    <a:pt x="1696003" y="0"/>
                    <a:pt x="1723024" y="27021"/>
                    <a:pt x="1723024" y="60353"/>
                  </a:cubicBezTo>
                  <a:lnTo>
                    <a:pt x="1723024" y="1780807"/>
                  </a:lnTo>
                  <a:cubicBezTo>
                    <a:pt x="1723024" y="1796813"/>
                    <a:pt x="1716666" y="1812165"/>
                    <a:pt x="1705347" y="1823483"/>
                  </a:cubicBezTo>
                  <a:cubicBezTo>
                    <a:pt x="1694029" y="1834801"/>
                    <a:pt x="1678678" y="1841160"/>
                    <a:pt x="1662671" y="1841160"/>
                  </a:cubicBezTo>
                  <a:lnTo>
                    <a:pt x="60353" y="1841160"/>
                  </a:lnTo>
                  <a:cubicBezTo>
                    <a:pt x="44347" y="1841160"/>
                    <a:pt x="28996" y="1834801"/>
                    <a:pt x="17677" y="1823483"/>
                  </a:cubicBezTo>
                  <a:cubicBezTo>
                    <a:pt x="6359" y="1812165"/>
                    <a:pt x="0" y="1796813"/>
                    <a:pt x="0" y="1780807"/>
                  </a:cubicBezTo>
                  <a:lnTo>
                    <a:pt x="0" y="60353"/>
                  </a:lnTo>
                  <a:cubicBezTo>
                    <a:pt x="0" y="44347"/>
                    <a:pt x="6359" y="28996"/>
                    <a:pt x="17677" y="17677"/>
                  </a:cubicBezTo>
                  <a:cubicBezTo>
                    <a:pt x="28996" y="6359"/>
                    <a:pt x="44347" y="0"/>
                    <a:pt x="60353" y="0"/>
                  </a:cubicBezTo>
                  <a:close/>
                </a:path>
              </a:pathLst>
            </a:custGeom>
            <a:solidFill>
              <a:srgbClr val="BCAC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23024" cy="1898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spc="134" u="sng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Problema o dolor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 spc="134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La distribuidora depende de catálogos en redes sociales y Google Drive. La barrera Tecnológica dificulta las ventas, actualización de inventario y genera desconfianza a los clientes que compran en la distribuidora.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75830" y="5594862"/>
            <a:ext cx="1729863" cy="1154676"/>
            <a:chOff x="0" y="0"/>
            <a:chExt cx="2306484" cy="15395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2281174" cy="1514094"/>
            </a:xfrm>
            <a:custGeom>
              <a:avLst/>
              <a:gdLst/>
              <a:ahLst/>
              <a:cxnLst/>
              <a:rect r="r" b="b" t="t" l="l"/>
              <a:pathLst>
                <a:path h="1514094" w="2281174">
                  <a:moveTo>
                    <a:pt x="0" y="378587"/>
                  </a:moveTo>
                  <a:lnTo>
                    <a:pt x="1519809" y="378587"/>
                  </a:lnTo>
                  <a:lnTo>
                    <a:pt x="1519809" y="0"/>
                  </a:lnTo>
                  <a:lnTo>
                    <a:pt x="2281174" y="757047"/>
                  </a:lnTo>
                  <a:lnTo>
                    <a:pt x="1519809" y="1514094"/>
                  </a:lnTo>
                  <a:lnTo>
                    <a:pt x="1519809" y="1135634"/>
                  </a:lnTo>
                  <a:lnTo>
                    <a:pt x="0" y="1135634"/>
                  </a:ln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71"/>
              <a:ext cx="2306447" cy="1539409"/>
            </a:xfrm>
            <a:custGeom>
              <a:avLst/>
              <a:gdLst/>
              <a:ahLst/>
              <a:cxnLst/>
              <a:rect r="r" b="b" t="t" l="l"/>
              <a:pathLst>
                <a:path h="1539409" w="2306447">
                  <a:moveTo>
                    <a:pt x="12700" y="378516"/>
                  </a:moveTo>
                  <a:lnTo>
                    <a:pt x="1532509" y="378516"/>
                  </a:lnTo>
                  <a:lnTo>
                    <a:pt x="1532509" y="391216"/>
                  </a:lnTo>
                  <a:lnTo>
                    <a:pt x="1519809" y="391216"/>
                  </a:lnTo>
                  <a:lnTo>
                    <a:pt x="1519809" y="12629"/>
                  </a:lnTo>
                  <a:cubicBezTo>
                    <a:pt x="1519809" y="7549"/>
                    <a:pt x="1522857" y="2850"/>
                    <a:pt x="1527683" y="945"/>
                  </a:cubicBezTo>
                  <a:cubicBezTo>
                    <a:pt x="1532509" y="-960"/>
                    <a:pt x="1537843" y="56"/>
                    <a:pt x="1541526" y="3612"/>
                  </a:cubicBezTo>
                  <a:lnTo>
                    <a:pt x="2302764" y="760659"/>
                  </a:lnTo>
                  <a:cubicBezTo>
                    <a:pt x="2305177" y="763072"/>
                    <a:pt x="2306447" y="766247"/>
                    <a:pt x="2306447" y="769676"/>
                  </a:cubicBezTo>
                  <a:cubicBezTo>
                    <a:pt x="2306447" y="773105"/>
                    <a:pt x="2305050" y="776280"/>
                    <a:pt x="2302764" y="778693"/>
                  </a:cubicBezTo>
                  <a:lnTo>
                    <a:pt x="1541399" y="1535740"/>
                  </a:lnTo>
                  <a:cubicBezTo>
                    <a:pt x="1537716" y="1539296"/>
                    <a:pt x="1532255" y="1540439"/>
                    <a:pt x="1527556" y="1538407"/>
                  </a:cubicBezTo>
                  <a:cubicBezTo>
                    <a:pt x="1522857" y="1536375"/>
                    <a:pt x="1519682" y="1531803"/>
                    <a:pt x="1519682" y="1526723"/>
                  </a:cubicBezTo>
                  <a:lnTo>
                    <a:pt x="1519682" y="1148263"/>
                  </a:lnTo>
                  <a:lnTo>
                    <a:pt x="1532382" y="1148263"/>
                  </a:lnTo>
                  <a:lnTo>
                    <a:pt x="1532382" y="1160963"/>
                  </a:lnTo>
                  <a:lnTo>
                    <a:pt x="12700" y="1160963"/>
                  </a:lnTo>
                  <a:cubicBezTo>
                    <a:pt x="5715" y="1160963"/>
                    <a:pt x="0" y="1155248"/>
                    <a:pt x="0" y="1148263"/>
                  </a:cubicBezTo>
                  <a:lnTo>
                    <a:pt x="0" y="391216"/>
                  </a:lnTo>
                  <a:cubicBezTo>
                    <a:pt x="0" y="384231"/>
                    <a:pt x="5715" y="378516"/>
                    <a:pt x="12700" y="378516"/>
                  </a:cubicBezTo>
                  <a:moveTo>
                    <a:pt x="12700" y="403916"/>
                  </a:moveTo>
                  <a:lnTo>
                    <a:pt x="12700" y="391216"/>
                  </a:lnTo>
                  <a:lnTo>
                    <a:pt x="25400" y="391216"/>
                  </a:lnTo>
                  <a:lnTo>
                    <a:pt x="25400" y="1148263"/>
                  </a:lnTo>
                  <a:lnTo>
                    <a:pt x="12700" y="1148263"/>
                  </a:lnTo>
                  <a:lnTo>
                    <a:pt x="12700" y="1135563"/>
                  </a:lnTo>
                  <a:lnTo>
                    <a:pt x="1532509" y="1135563"/>
                  </a:lnTo>
                  <a:cubicBezTo>
                    <a:pt x="1539494" y="1135563"/>
                    <a:pt x="1545209" y="1141278"/>
                    <a:pt x="1545209" y="1148263"/>
                  </a:cubicBezTo>
                  <a:lnTo>
                    <a:pt x="1545209" y="1526850"/>
                  </a:lnTo>
                  <a:lnTo>
                    <a:pt x="1532509" y="1526850"/>
                  </a:lnTo>
                  <a:lnTo>
                    <a:pt x="1523492" y="1517833"/>
                  </a:lnTo>
                  <a:lnTo>
                    <a:pt x="2284857" y="760659"/>
                  </a:lnTo>
                  <a:lnTo>
                    <a:pt x="2293874" y="769676"/>
                  </a:lnTo>
                  <a:lnTo>
                    <a:pt x="2284857" y="778693"/>
                  </a:lnTo>
                  <a:lnTo>
                    <a:pt x="1523492" y="21646"/>
                  </a:lnTo>
                  <a:lnTo>
                    <a:pt x="1532509" y="12629"/>
                  </a:lnTo>
                  <a:lnTo>
                    <a:pt x="1545209" y="12629"/>
                  </a:lnTo>
                  <a:lnTo>
                    <a:pt x="1545209" y="391216"/>
                  </a:lnTo>
                  <a:cubicBezTo>
                    <a:pt x="1545209" y="398201"/>
                    <a:pt x="1539494" y="403916"/>
                    <a:pt x="1532509" y="403916"/>
                  </a:cubicBezTo>
                  <a:lnTo>
                    <a:pt x="12700" y="403916"/>
                  </a:ln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17192" y="3296345"/>
            <a:ext cx="6542107" cy="6581428"/>
            <a:chOff x="0" y="0"/>
            <a:chExt cx="1723024" cy="1733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23024" cy="1733380"/>
            </a:xfrm>
            <a:custGeom>
              <a:avLst/>
              <a:gdLst/>
              <a:ahLst/>
              <a:cxnLst/>
              <a:rect r="r" b="b" t="t" l="l"/>
              <a:pathLst>
                <a:path h="1733380" w="1723024">
                  <a:moveTo>
                    <a:pt x="60353" y="0"/>
                  </a:moveTo>
                  <a:lnTo>
                    <a:pt x="1662671" y="0"/>
                  </a:lnTo>
                  <a:cubicBezTo>
                    <a:pt x="1696003" y="0"/>
                    <a:pt x="1723024" y="27021"/>
                    <a:pt x="1723024" y="60353"/>
                  </a:cubicBezTo>
                  <a:lnTo>
                    <a:pt x="1723024" y="1673027"/>
                  </a:lnTo>
                  <a:cubicBezTo>
                    <a:pt x="1723024" y="1689033"/>
                    <a:pt x="1716666" y="1704385"/>
                    <a:pt x="1705347" y="1715703"/>
                  </a:cubicBezTo>
                  <a:cubicBezTo>
                    <a:pt x="1694029" y="1727021"/>
                    <a:pt x="1678678" y="1733380"/>
                    <a:pt x="1662671" y="1733380"/>
                  </a:cubicBezTo>
                  <a:lnTo>
                    <a:pt x="60353" y="1733380"/>
                  </a:lnTo>
                  <a:cubicBezTo>
                    <a:pt x="44347" y="1733380"/>
                    <a:pt x="28996" y="1727021"/>
                    <a:pt x="17677" y="1715703"/>
                  </a:cubicBezTo>
                  <a:cubicBezTo>
                    <a:pt x="6359" y="1704385"/>
                    <a:pt x="0" y="1689033"/>
                    <a:pt x="0" y="1673027"/>
                  </a:cubicBezTo>
                  <a:lnTo>
                    <a:pt x="0" y="60353"/>
                  </a:lnTo>
                  <a:cubicBezTo>
                    <a:pt x="0" y="44347"/>
                    <a:pt x="6359" y="28996"/>
                    <a:pt x="17677" y="17677"/>
                  </a:cubicBezTo>
                  <a:cubicBezTo>
                    <a:pt x="28996" y="6359"/>
                    <a:pt x="44347" y="0"/>
                    <a:pt x="60353" y="0"/>
                  </a:cubicBezTo>
                  <a:close/>
                </a:path>
              </a:pathLst>
            </a:custGeom>
            <a:solidFill>
              <a:srgbClr val="BCAC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723024" cy="179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spc="134" u="sng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Propuesta de solución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  <a:r>
                <a:rPr lang="en-US" sz="2699" spc="134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Desarrollo de una plataforma web B2B con catálogo dinámico, carrito de compras, verificación por correo, administración de productos y pedidos, reportes y panel de control.</a:t>
              </a: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  <a:p>
              <a:pPr algn="ctr">
                <a:lnSpc>
                  <a:spcPts val="37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576577" y="8104003"/>
            <a:ext cx="1446354" cy="1446354"/>
          </a:xfrm>
          <a:custGeom>
            <a:avLst/>
            <a:gdLst/>
            <a:ahLst/>
            <a:cxnLst/>
            <a:rect r="r" b="b" t="t" l="l"/>
            <a:pathLst>
              <a:path h="1446354" w="1446354">
                <a:moveTo>
                  <a:pt x="0" y="0"/>
                </a:moveTo>
                <a:lnTo>
                  <a:pt x="1446354" y="0"/>
                </a:lnTo>
                <a:lnTo>
                  <a:pt x="1446354" y="1446353"/>
                </a:lnTo>
                <a:lnTo>
                  <a:pt x="0" y="1446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18082" y="7809791"/>
            <a:ext cx="2373082" cy="1839138"/>
          </a:xfrm>
          <a:custGeom>
            <a:avLst/>
            <a:gdLst/>
            <a:ahLst/>
            <a:cxnLst/>
            <a:rect r="r" b="b" t="t" l="l"/>
            <a:pathLst>
              <a:path h="1839138" w="2373082">
                <a:moveTo>
                  <a:pt x="0" y="0"/>
                </a:moveTo>
                <a:lnTo>
                  <a:pt x="2373082" y="0"/>
                </a:lnTo>
                <a:lnTo>
                  <a:pt x="2373082" y="1839138"/>
                </a:lnTo>
                <a:lnTo>
                  <a:pt x="0" y="1839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1425" y="1627673"/>
            <a:ext cx="18105148" cy="9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DESCRIPCIÓN DEL PROYECTO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571467" y="3375544"/>
            <a:ext cx="13630975" cy="1515868"/>
            <a:chOff x="0" y="0"/>
            <a:chExt cx="3590051" cy="3992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90051" cy="399241"/>
            </a:xfrm>
            <a:custGeom>
              <a:avLst/>
              <a:gdLst/>
              <a:ahLst/>
              <a:cxnLst/>
              <a:rect r="r" b="b" t="t" l="l"/>
              <a:pathLst>
                <a:path h="399241" w="3590051">
                  <a:moveTo>
                    <a:pt x="28966" y="0"/>
                  </a:moveTo>
                  <a:lnTo>
                    <a:pt x="3561085" y="0"/>
                  </a:lnTo>
                  <a:cubicBezTo>
                    <a:pt x="3568767" y="0"/>
                    <a:pt x="3576135" y="3052"/>
                    <a:pt x="3581567" y="8484"/>
                  </a:cubicBezTo>
                  <a:cubicBezTo>
                    <a:pt x="3586999" y="13916"/>
                    <a:pt x="3590051" y="21284"/>
                    <a:pt x="3590051" y="28966"/>
                  </a:cubicBezTo>
                  <a:lnTo>
                    <a:pt x="3590051" y="370275"/>
                  </a:lnTo>
                  <a:cubicBezTo>
                    <a:pt x="3590051" y="377957"/>
                    <a:pt x="3586999" y="385325"/>
                    <a:pt x="3581567" y="390757"/>
                  </a:cubicBezTo>
                  <a:cubicBezTo>
                    <a:pt x="3576135" y="396189"/>
                    <a:pt x="3568767" y="399241"/>
                    <a:pt x="3561085" y="399241"/>
                  </a:cubicBezTo>
                  <a:lnTo>
                    <a:pt x="28966" y="399241"/>
                  </a:lnTo>
                  <a:cubicBezTo>
                    <a:pt x="21284" y="399241"/>
                    <a:pt x="13916" y="396189"/>
                    <a:pt x="8484" y="390757"/>
                  </a:cubicBezTo>
                  <a:cubicBezTo>
                    <a:pt x="3052" y="385325"/>
                    <a:pt x="0" y="377957"/>
                    <a:pt x="0" y="370275"/>
                  </a:cubicBezTo>
                  <a:lnTo>
                    <a:pt x="0" y="28966"/>
                  </a:lnTo>
                  <a:cubicBezTo>
                    <a:pt x="0" y="21284"/>
                    <a:pt x="3052" y="13916"/>
                    <a:pt x="8484" y="8484"/>
                  </a:cubicBezTo>
                  <a:cubicBezTo>
                    <a:pt x="13916" y="3052"/>
                    <a:pt x="21284" y="0"/>
                    <a:pt x="28966" y="0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590051" cy="4468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Desarrollar una plataforma web B2B que optimice el proceso de ventas de Distribuidora Talagante.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71467" y="7141640"/>
            <a:ext cx="13630975" cy="2389984"/>
            <a:chOff x="0" y="0"/>
            <a:chExt cx="3590051" cy="6294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90051" cy="629461"/>
            </a:xfrm>
            <a:custGeom>
              <a:avLst/>
              <a:gdLst/>
              <a:ahLst/>
              <a:cxnLst/>
              <a:rect r="r" b="b" t="t" l="l"/>
              <a:pathLst>
                <a:path h="629461" w="3590051">
                  <a:moveTo>
                    <a:pt x="28966" y="0"/>
                  </a:moveTo>
                  <a:lnTo>
                    <a:pt x="3561085" y="0"/>
                  </a:lnTo>
                  <a:cubicBezTo>
                    <a:pt x="3568767" y="0"/>
                    <a:pt x="3576135" y="3052"/>
                    <a:pt x="3581567" y="8484"/>
                  </a:cubicBezTo>
                  <a:cubicBezTo>
                    <a:pt x="3586999" y="13916"/>
                    <a:pt x="3590051" y="21284"/>
                    <a:pt x="3590051" y="28966"/>
                  </a:cubicBezTo>
                  <a:lnTo>
                    <a:pt x="3590051" y="600494"/>
                  </a:lnTo>
                  <a:cubicBezTo>
                    <a:pt x="3590051" y="608177"/>
                    <a:pt x="3586999" y="615544"/>
                    <a:pt x="3581567" y="620977"/>
                  </a:cubicBezTo>
                  <a:cubicBezTo>
                    <a:pt x="3576135" y="626409"/>
                    <a:pt x="3568767" y="629461"/>
                    <a:pt x="3561085" y="629461"/>
                  </a:cubicBezTo>
                  <a:lnTo>
                    <a:pt x="28966" y="629461"/>
                  </a:lnTo>
                  <a:cubicBezTo>
                    <a:pt x="21284" y="629461"/>
                    <a:pt x="13916" y="626409"/>
                    <a:pt x="8484" y="620977"/>
                  </a:cubicBezTo>
                  <a:cubicBezTo>
                    <a:pt x="3052" y="615544"/>
                    <a:pt x="0" y="608177"/>
                    <a:pt x="0" y="600494"/>
                  </a:cubicBezTo>
                  <a:lnTo>
                    <a:pt x="0" y="28966"/>
                  </a:lnTo>
                  <a:cubicBezTo>
                    <a:pt x="0" y="21284"/>
                    <a:pt x="3052" y="13916"/>
                    <a:pt x="8484" y="8484"/>
                  </a:cubicBezTo>
                  <a:cubicBezTo>
                    <a:pt x="13916" y="3052"/>
                    <a:pt x="21284" y="0"/>
                    <a:pt x="28966" y="0"/>
                  </a:cubicBezTo>
                  <a:close/>
                </a:path>
              </a:pathLst>
            </a:custGeom>
            <a:solidFill>
              <a:srgbClr val="F5F7F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590051" cy="677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Gestionar productos, inventario y pedidos en tiempo real.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Implementar verificación vía email para mayor seguridad.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Mejorar la experiencia de los usuarios finales (clientes de la distribuidora) con interfaz responsiva.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 spc="99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Mejorar la relación del cliente a través de una plataforma amigable que le permita gestionar sus productos y servicios.</a:t>
              </a:r>
            </a:p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25" y="2007856"/>
            <a:ext cx="18105148" cy="9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 General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25" y="5639571"/>
            <a:ext cx="18105148" cy="9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Objetivos Específicos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72219" y="3290329"/>
            <a:ext cx="7481088" cy="6247231"/>
            <a:chOff x="0" y="0"/>
            <a:chExt cx="9974784" cy="8329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556" y="12700"/>
              <a:ext cx="9945742" cy="8304276"/>
            </a:xfrm>
            <a:custGeom>
              <a:avLst/>
              <a:gdLst/>
              <a:ahLst/>
              <a:cxnLst/>
              <a:rect r="r" b="b" t="t" l="l"/>
              <a:pathLst>
                <a:path h="8304276" w="9945742">
                  <a:moveTo>
                    <a:pt x="0" y="1384046"/>
                  </a:moveTo>
                  <a:cubicBezTo>
                    <a:pt x="0" y="619633"/>
                    <a:pt x="710337" y="0"/>
                    <a:pt x="1586614" y="0"/>
                  </a:cubicBezTo>
                  <a:lnTo>
                    <a:pt x="8359128" y="0"/>
                  </a:lnTo>
                  <a:cubicBezTo>
                    <a:pt x="9235406" y="0"/>
                    <a:pt x="9945742" y="619633"/>
                    <a:pt x="9945742" y="1384046"/>
                  </a:cubicBezTo>
                  <a:lnTo>
                    <a:pt x="9945742" y="6920230"/>
                  </a:lnTo>
                  <a:cubicBezTo>
                    <a:pt x="9945742" y="7684643"/>
                    <a:pt x="9235406" y="8304276"/>
                    <a:pt x="8359128" y="8304276"/>
                  </a:cubicBezTo>
                  <a:lnTo>
                    <a:pt x="1586614" y="8304276"/>
                  </a:lnTo>
                  <a:cubicBezTo>
                    <a:pt x="710337" y="8304276"/>
                    <a:pt x="0" y="7684516"/>
                    <a:pt x="0" y="6920230"/>
                  </a:cubicBez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74845" cy="8329676"/>
            </a:xfrm>
            <a:custGeom>
              <a:avLst/>
              <a:gdLst/>
              <a:ahLst/>
              <a:cxnLst/>
              <a:rect r="r" b="b" t="t" l="l"/>
              <a:pathLst>
                <a:path h="8329676" w="9974845">
                  <a:moveTo>
                    <a:pt x="0" y="1396746"/>
                  </a:moveTo>
                  <a:cubicBezTo>
                    <a:pt x="0" y="625348"/>
                    <a:pt x="716888" y="0"/>
                    <a:pt x="1601170" y="0"/>
                  </a:cubicBezTo>
                  <a:lnTo>
                    <a:pt x="8373684" y="0"/>
                  </a:lnTo>
                  <a:lnTo>
                    <a:pt x="8373684" y="12700"/>
                  </a:lnTo>
                  <a:lnTo>
                    <a:pt x="8373684" y="0"/>
                  </a:lnTo>
                  <a:lnTo>
                    <a:pt x="8373684" y="12700"/>
                  </a:lnTo>
                  <a:lnTo>
                    <a:pt x="8373684" y="0"/>
                  </a:lnTo>
                  <a:cubicBezTo>
                    <a:pt x="9257967" y="0"/>
                    <a:pt x="9974845" y="625348"/>
                    <a:pt x="9974845" y="1396746"/>
                  </a:cubicBezTo>
                  <a:lnTo>
                    <a:pt x="9960298" y="1396746"/>
                  </a:lnTo>
                  <a:lnTo>
                    <a:pt x="9974845" y="1396746"/>
                  </a:lnTo>
                  <a:lnTo>
                    <a:pt x="9974845" y="6932930"/>
                  </a:lnTo>
                  <a:lnTo>
                    <a:pt x="9960298" y="6932930"/>
                  </a:lnTo>
                  <a:lnTo>
                    <a:pt x="9974845" y="6932930"/>
                  </a:lnTo>
                  <a:cubicBezTo>
                    <a:pt x="9974845" y="7704328"/>
                    <a:pt x="9257967" y="8329676"/>
                    <a:pt x="8373684" y="8329676"/>
                  </a:cubicBezTo>
                  <a:lnTo>
                    <a:pt x="8373684" y="8316976"/>
                  </a:lnTo>
                  <a:lnTo>
                    <a:pt x="8373684" y="8329676"/>
                  </a:lnTo>
                  <a:lnTo>
                    <a:pt x="1601170" y="8329676"/>
                  </a:lnTo>
                  <a:lnTo>
                    <a:pt x="1601170" y="8316976"/>
                  </a:lnTo>
                  <a:lnTo>
                    <a:pt x="1601170" y="8329676"/>
                  </a:lnTo>
                  <a:cubicBezTo>
                    <a:pt x="716888" y="8329676"/>
                    <a:pt x="0" y="7704328"/>
                    <a:pt x="0" y="6932930"/>
                  </a:cubicBezTo>
                  <a:lnTo>
                    <a:pt x="0" y="1396746"/>
                  </a:lnTo>
                  <a:lnTo>
                    <a:pt x="14556" y="1396746"/>
                  </a:lnTo>
                  <a:lnTo>
                    <a:pt x="0" y="1396746"/>
                  </a:lnTo>
                  <a:moveTo>
                    <a:pt x="29112" y="1396746"/>
                  </a:moveTo>
                  <a:lnTo>
                    <a:pt x="29112" y="6932930"/>
                  </a:lnTo>
                  <a:lnTo>
                    <a:pt x="14556" y="6932930"/>
                  </a:lnTo>
                  <a:lnTo>
                    <a:pt x="29112" y="6932930"/>
                  </a:lnTo>
                  <a:cubicBezTo>
                    <a:pt x="29112" y="7690358"/>
                    <a:pt x="732899" y="8304276"/>
                    <a:pt x="1601170" y="8304276"/>
                  </a:cubicBezTo>
                  <a:lnTo>
                    <a:pt x="8373684" y="8304276"/>
                  </a:lnTo>
                  <a:cubicBezTo>
                    <a:pt x="9241810" y="8304276"/>
                    <a:pt x="9945743" y="7690231"/>
                    <a:pt x="9945743" y="6932930"/>
                  </a:cubicBezTo>
                  <a:lnTo>
                    <a:pt x="9945743" y="1396746"/>
                  </a:lnTo>
                  <a:cubicBezTo>
                    <a:pt x="9945743" y="639445"/>
                    <a:pt x="9241809" y="25400"/>
                    <a:pt x="8373684" y="25400"/>
                  </a:cubicBezTo>
                  <a:lnTo>
                    <a:pt x="1601170" y="25400"/>
                  </a:lnTo>
                  <a:lnTo>
                    <a:pt x="1601170" y="12700"/>
                  </a:lnTo>
                  <a:lnTo>
                    <a:pt x="1601170" y="25400"/>
                  </a:lnTo>
                  <a:cubicBezTo>
                    <a:pt x="732899" y="25400"/>
                    <a:pt x="29112" y="639445"/>
                    <a:pt x="29112" y="1396746"/>
                  </a:cubicBez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9974784" cy="839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Alcances: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web funcional desarrollada en Django.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Módulo administrador para gestión de productos y pedidos.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de autenticación y verificación por email.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de datos PostgreSQL desplegada en Render.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97901" y="3290329"/>
            <a:ext cx="7461399" cy="6247231"/>
            <a:chOff x="0" y="0"/>
            <a:chExt cx="9948532" cy="83296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6577" y="12700"/>
              <a:ext cx="9915295" cy="8304276"/>
            </a:xfrm>
            <a:custGeom>
              <a:avLst/>
              <a:gdLst/>
              <a:ahLst/>
              <a:cxnLst/>
              <a:rect r="r" b="b" t="t" l="l"/>
              <a:pathLst>
                <a:path h="8304276" w="9915295">
                  <a:moveTo>
                    <a:pt x="0" y="1266444"/>
                  </a:moveTo>
                  <a:cubicBezTo>
                    <a:pt x="0" y="567055"/>
                    <a:pt x="739826" y="0"/>
                    <a:pt x="1652549" y="0"/>
                  </a:cubicBezTo>
                  <a:lnTo>
                    <a:pt x="8262746" y="0"/>
                  </a:lnTo>
                  <a:cubicBezTo>
                    <a:pt x="9175469" y="0"/>
                    <a:pt x="9915295" y="567055"/>
                    <a:pt x="9915295" y="1266444"/>
                  </a:cubicBezTo>
                  <a:lnTo>
                    <a:pt x="9915295" y="7037832"/>
                  </a:lnTo>
                  <a:cubicBezTo>
                    <a:pt x="9915295" y="7737221"/>
                    <a:pt x="9175469" y="8304276"/>
                    <a:pt x="8262746" y="8304276"/>
                  </a:cubicBezTo>
                  <a:lnTo>
                    <a:pt x="1652549" y="8304276"/>
                  </a:lnTo>
                  <a:cubicBezTo>
                    <a:pt x="739826" y="8304276"/>
                    <a:pt x="0" y="7737221"/>
                    <a:pt x="0" y="7037832"/>
                  </a:cubicBezTo>
                  <a:close/>
                </a:path>
              </a:pathLst>
            </a:custGeom>
            <a:solidFill>
              <a:srgbClr val="F2A54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48449" cy="8329676"/>
            </a:xfrm>
            <a:custGeom>
              <a:avLst/>
              <a:gdLst/>
              <a:ahLst/>
              <a:cxnLst/>
              <a:rect r="r" b="b" t="t" l="l"/>
              <a:pathLst>
                <a:path h="8329676" w="9948449">
                  <a:moveTo>
                    <a:pt x="0" y="1279144"/>
                  </a:moveTo>
                  <a:cubicBezTo>
                    <a:pt x="0" y="572643"/>
                    <a:pt x="747286" y="0"/>
                    <a:pt x="1669126" y="0"/>
                  </a:cubicBezTo>
                  <a:lnTo>
                    <a:pt x="8279323" y="0"/>
                  </a:lnTo>
                  <a:lnTo>
                    <a:pt x="8279323" y="12700"/>
                  </a:lnTo>
                  <a:lnTo>
                    <a:pt x="8279323" y="0"/>
                  </a:lnTo>
                  <a:cubicBezTo>
                    <a:pt x="9201162" y="0"/>
                    <a:pt x="9948449" y="572643"/>
                    <a:pt x="9948449" y="1279144"/>
                  </a:cubicBezTo>
                  <a:lnTo>
                    <a:pt x="9931872" y="1279144"/>
                  </a:lnTo>
                  <a:lnTo>
                    <a:pt x="9948449" y="1279144"/>
                  </a:lnTo>
                  <a:lnTo>
                    <a:pt x="9948449" y="7050532"/>
                  </a:lnTo>
                  <a:lnTo>
                    <a:pt x="9931872" y="7050532"/>
                  </a:lnTo>
                  <a:lnTo>
                    <a:pt x="9948449" y="7050532"/>
                  </a:lnTo>
                  <a:cubicBezTo>
                    <a:pt x="9948449" y="7757033"/>
                    <a:pt x="9201162" y="8329676"/>
                    <a:pt x="8279323" y="8329676"/>
                  </a:cubicBezTo>
                  <a:lnTo>
                    <a:pt x="8279323" y="8316976"/>
                  </a:lnTo>
                  <a:lnTo>
                    <a:pt x="8279323" y="8329676"/>
                  </a:lnTo>
                  <a:lnTo>
                    <a:pt x="1669126" y="8329676"/>
                  </a:lnTo>
                  <a:lnTo>
                    <a:pt x="1669126" y="8316976"/>
                  </a:lnTo>
                  <a:lnTo>
                    <a:pt x="1669126" y="8329676"/>
                  </a:lnTo>
                  <a:cubicBezTo>
                    <a:pt x="747286" y="8329676"/>
                    <a:pt x="0" y="7756906"/>
                    <a:pt x="0" y="7050532"/>
                  </a:cubicBezTo>
                  <a:lnTo>
                    <a:pt x="0" y="1279144"/>
                  </a:lnTo>
                  <a:lnTo>
                    <a:pt x="16577" y="1279144"/>
                  </a:lnTo>
                  <a:lnTo>
                    <a:pt x="0" y="1279144"/>
                  </a:lnTo>
                  <a:moveTo>
                    <a:pt x="33154" y="1279144"/>
                  </a:moveTo>
                  <a:lnTo>
                    <a:pt x="33154" y="7050532"/>
                  </a:lnTo>
                  <a:lnTo>
                    <a:pt x="16577" y="7050532"/>
                  </a:lnTo>
                  <a:lnTo>
                    <a:pt x="33154" y="7050532"/>
                  </a:lnTo>
                  <a:cubicBezTo>
                    <a:pt x="33154" y="7742936"/>
                    <a:pt x="765686" y="8304276"/>
                    <a:pt x="1669126" y="8304276"/>
                  </a:cubicBezTo>
                  <a:lnTo>
                    <a:pt x="8279323" y="8304276"/>
                  </a:lnTo>
                  <a:cubicBezTo>
                    <a:pt x="9182929" y="8304276"/>
                    <a:pt x="9915295" y="7742936"/>
                    <a:pt x="9915295" y="7050532"/>
                  </a:cubicBezTo>
                  <a:lnTo>
                    <a:pt x="9915295" y="1279144"/>
                  </a:lnTo>
                  <a:cubicBezTo>
                    <a:pt x="9915461" y="586740"/>
                    <a:pt x="9182929" y="25400"/>
                    <a:pt x="8279323" y="25400"/>
                  </a:cubicBezTo>
                  <a:lnTo>
                    <a:pt x="1669126" y="25400"/>
                  </a:lnTo>
                  <a:lnTo>
                    <a:pt x="1669126" y="12700"/>
                  </a:lnTo>
                  <a:lnTo>
                    <a:pt x="1669126" y="25400"/>
                  </a:lnTo>
                  <a:cubicBezTo>
                    <a:pt x="765686" y="25400"/>
                    <a:pt x="33154" y="586740"/>
                    <a:pt x="33154" y="1279144"/>
                  </a:cubicBez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9948532" cy="839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Limitaciones: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integraron métodos de pago automáticos.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desarrolló app móvil nativa.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generan Boletas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533113" y="3605341"/>
            <a:ext cx="1562373" cy="1562373"/>
          </a:xfrm>
          <a:custGeom>
            <a:avLst/>
            <a:gdLst/>
            <a:ahLst/>
            <a:cxnLst/>
            <a:rect r="r" b="b" t="t" l="l"/>
            <a:pathLst>
              <a:path h="1562373" w="1562373">
                <a:moveTo>
                  <a:pt x="0" y="0"/>
                </a:moveTo>
                <a:lnTo>
                  <a:pt x="1562373" y="0"/>
                </a:lnTo>
                <a:lnTo>
                  <a:pt x="1562373" y="1562373"/>
                </a:lnTo>
                <a:lnTo>
                  <a:pt x="0" y="1562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906289" y="7687434"/>
            <a:ext cx="1564976" cy="1570866"/>
          </a:xfrm>
          <a:custGeom>
            <a:avLst/>
            <a:gdLst/>
            <a:ahLst/>
            <a:cxnLst/>
            <a:rect r="r" b="b" t="t" l="l"/>
            <a:pathLst>
              <a:path h="1570866" w="1564976">
                <a:moveTo>
                  <a:pt x="0" y="0"/>
                </a:moveTo>
                <a:lnTo>
                  <a:pt x="1564975" y="0"/>
                </a:lnTo>
                <a:lnTo>
                  <a:pt x="1564975" y="1570866"/>
                </a:lnTo>
                <a:lnTo>
                  <a:pt x="0" y="1570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1425" y="1650274"/>
            <a:ext cx="18105148" cy="9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Alcances y limitaciones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62067" y="3578585"/>
            <a:ext cx="9822078" cy="5071576"/>
            <a:chOff x="0" y="0"/>
            <a:chExt cx="13096104" cy="67621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825" y="12700"/>
              <a:ext cx="13074488" cy="6736715"/>
            </a:xfrm>
            <a:custGeom>
              <a:avLst/>
              <a:gdLst/>
              <a:ahLst/>
              <a:cxnLst/>
              <a:rect r="r" b="b" t="t" l="l"/>
              <a:pathLst>
                <a:path h="6736715" w="13074488">
                  <a:moveTo>
                    <a:pt x="0" y="1122807"/>
                  </a:moveTo>
                  <a:cubicBezTo>
                    <a:pt x="0" y="502666"/>
                    <a:pt x="429415" y="0"/>
                    <a:pt x="959067" y="0"/>
                  </a:cubicBezTo>
                  <a:lnTo>
                    <a:pt x="12115421" y="0"/>
                  </a:lnTo>
                  <a:cubicBezTo>
                    <a:pt x="12645074" y="0"/>
                    <a:pt x="13074488" y="502666"/>
                    <a:pt x="13074488" y="1122807"/>
                  </a:cubicBezTo>
                  <a:lnTo>
                    <a:pt x="13074488" y="5613908"/>
                  </a:lnTo>
                  <a:cubicBezTo>
                    <a:pt x="13074488" y="6234049"/>
                    <a:pt x="12645074" y="6736715"/>
                    <a:pt x="12115421" y="6736715"/>
                  </a:cubicBezTo>
                  <a:lnTo>
                    <a:pt x="959067" y="6736715"/>
                  </a:lnTo>
                  <a:cubicBezTo>
                    <a:pt x="429415" y="6736715"/>
                    <a:pt x="0" y="6234049"/>
                    <a:pt x="0" y="5613908"/>
                  </a:cubicBezTo>
                  <a:close/>
                </a:path>
              </a:pathLst>
            </a:custGeom>
            <a:solidFill>
              <a:srgbClr val="B3C6E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96143" cy="6762115"/>
            </a:xfrm>
            <a:custGeom>
              <a:avLst/>
              <a:gdLst/>
              <a:ahLst/>
              <a:cxnLst/>
              <a:rect r="r" b="b" t="t" l="l"/>
              <a:pathLst>
                <a:path h="6762115" w="13096143">
                  <a:moveTo>
                    <a:pt x="0" y="1135507"/>
                  </a:moveTo>
                  <a:cubicBezTo>
                    <a:pt x="0" y="508381"/>
                    <a:pt x="434286" y="0"/>
                    <a:pt x="969892" y="0"/>
                  </a:cubicBezTo>
                  <a:lnTo>
                    <a:pt x="12126246" y="0"/>
                  </a:lnTo>
                  <a:lnTo>
                    <a:pt x="12126246" y="12700"/>
                  </a:lnTo>
                  <a:lnTo>
                    <a:pt x="12126246" y="0"/>
                  </a:lnTo>
                  <a:cubicBezTo>
                    <a:pt x="12661851" y="0"/>
                    <a:pt x="13096143" y="508381"/>
                    <a:pt x="13096143" y="1135507"/>
                  </a:cubicBezTo>
                  <a:lnTo>
                    <a:pt x="13085313" y="1135507"/>
                  </a:lnTo>
                  <a:lnTo>
                    <a:pt x="13096143" y="1135507"/>
                  </a:lnTo>
                  <a:lnTo>
                    <a:pt x="13096143" y="5626608"/>
                  </a:lnTo>
                  <a:lnTo>
                    <a:pt x="13085313" y="5626608"/>
                  </a:lnTo>
                  <a:lnTo>
                    <a:pt x="13096143" y="5626608"/>
                  </a:lnTo>
                  <a:cubicBezTo>
                    <a:pt x="13096143" y="6253734"/>
                    <a:pt x="12661851" y="6762115"/>
                    <a:pt x="12126246" y="6762115"/>
                  </a:cubicBezTo>
                  <a:lnTo>
                    <a:pt x="12126246" y="6749415"/>
                  </a:lnTo>
                  <a:lnTo>
                    <a:pt x="12126246" y="6762115"/>
                  </a:lnTo>
                  <a:lnTo>
                    <a:pt x="969892" y="6762115"/>
                  </a:lnTo>
                  <a:lnTo>
                    <a:pt x="969892" y="6749415"/>
                  </a:lnTo>
                  <a:lnTo>
                    <a:pt x="969892" y="6762115"/>
                  </a:lnTo>
                  <a:cubicBezTo>
                    <a:pt x="434286" y="6762115"/>
                    <a:pt x="0" y="6253734"/>
                    <a:pt x="0" y="5626608"/>
                  </a:cubicBezTo>
                  <a:lnTo>
                    <a:pt x="0" y="1135507"/>
                  </a:lnTo>
                  <a:lnTo>
                    <a:pt x="10825" y="1135507"/>
                  </a:lnTo>
                  <a:lnTo>
                    <a:pt x="0" y="1135507"/>
                  </a:lnTo>
                  <a:moveTo>
                    <a:pt x="21649" y="1135507"/>
                  </a:moveTo>
                  <a:lnTo>
                    <a:pt x="21649" y="5626608"/>
                  </a:lnTo>
                  <a:lnTo>
                    <a:pt x="10825" y="5626608"/>
                  </a:lnTo>
                  <a:lnTo>
                    <a:pt x="21649" y="5626608"/>
                  </a:lnTo>
                  <a:cubicBezTo>
                    <a:pt x="21649" y="6239637"/>
                    <a:pt x="446194" y="6736715"/>
                    <a:pt x="969892" y="6736715"/>
                  </a:cubicBezTo>
                  <a:lnTo>
                    <a:pt x="12126246" y="6736715"/>
                  </a:lnTo>
                  <a:cubicBezTo>
                    <a:pt x="12649944" y="6736715"/>
                    <a:pt x="13074489" y="6239637"/>
                    <a:pt x="13074489" y="5626608"/>
                  </a:cubicBezTo>
                  <a:lnTo>
                    <a:pt x="13074489" y="1135507"/>
                  </a:lnTo>
                  <a:cubicBezTo>
                    <a:pt x="13074489" y="522478"/>
                    <a:pt x="12649944" y="25400"/>
                    <a:pt x="12126246" y="25400"/>
                  </a:cubicBezTo>
                  <a:lnTo>
                    <a:pt x="969892" y="25400"/>
                  </a:lnTo>
                  <a:lnTo>
                    <a:pt x="969892" y="12700"/>
                  </a:lnTo>
                  <a:lnTo>
                    <a:pt x="969892" y="25400"/>
                  </a:lnTo>
                  <a:cubicBezTo>
                    <a:pt x="446194" y="25400"/>
                    <a:pt x="21649" y="522478"/>
                    <a:pt x="21649" y="1135507"/>
                  </a:cubicBez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3096104" cy="68287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		Metodología ágil Scrum.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Iteraciones semanales con revisión y planificación.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 de versiones con GitHub.</a:t>
              </a:r>
            </a:p>
            <a:p>
              <a:pPr algn="l" marL="651510" indent="-325755" lvl="1">
                <a:lnSpc>
                  <a:spcPts val="4320"/>
                </a:lnSpc>
                <a:buFont typeface="Arial"/>
                <a:buChar char="•"/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funcionales y de usuario realizadas por el equipo.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641586" y="3072779"/>
            <a:ext cx="3676282" cy="3616125"/>
          </a:xfrm>
          <a:custGeom>
            <a:avLst/>
            <a:gdLst/>
            <a:ahLst/>
            <a:cxnLst/>
            <a:rect r="r" b="b" t="t" l="l"/>
            <a:pathLst>
              <a:path h="3616125" w="3676282">
                <a:moveTo>
                  <a:pt x="0" y="0"/>
                </a:moveTo>
                <a:lnTo>
                  <a:pt x="3676282" y="0"/>
                </a:lnTo>
                <a:lnTo>
                  <a:pt x="3676282" y="3616125"/>
                </a:lnTo>
                <a:lnTo>
                  <a:pt x="0" y="3616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25" y="2080382"/>
            <a:ext cx="18105148" cy="9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Metodología de trabajo para el desarrollo del proyecto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26" y="1664884"/>
            <a:ext cx="18105148" cy="136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Cronograma para el desarrollo del proyecto</a:t>
            </a:r>
          </a:p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* Utilizar cronograma de inicio, indicando el cumplimiento al término del proyecto </a:t>
            </a:r>
          </a:p>
        </p:txBody>
      </p:sp>
      <p:sp>
        <p:nvSpPr>
          <p:cNvPr name="AutoShape 5" id="5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662012" y="2995088"/>
            <a:ext cx="13796741" cy="7075686"/>
            <a:chOff x="0" y="0"/>
            <a:chExt cx="18395654" cy="9434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95696" cy="9434195"/>
            </a:xfrm>
            <a:custGeom>
              <a:avLst/>
              <a:gdLst/>
              <a:ahLst/>
              <a:cxnLst/>
              <a:rect r="r" b="b" t="t" l="l"/>
              <a:pathLst>
                <a:path h="9434195" w="18395696">
                  <a:moveTo>
                    <a:pt x="0" y="0"/>
                  </a:moveTo>
                  <a:lnTo>
                    <a:pt x="18395696" y="0"/>
                  </a:lnTo>
                  <a:lnTo>
                    <a:pt x="18395696" y="9434195"/>
                  </a:lnTo>
                  <a:lnTo>
                    <a:pt x="0" y="9434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40" r="0" b="-484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-1238" y="1358770"/>
            <a:ext cx="18105150" cy="131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del software</a:t>
            </a:r>
          </a:p>
          <a:p>
            <a:pPr algn="ctr">
              <a:lnSpc>
                <a:spcPts val="252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119362" y="2720220"/>
            <a:ext cx="5863966" cy="7109580"/>
            <a:chOff x="0" y="0"/>
            <a:chExt cx="7818622" cy="9479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18628" cy="9479407"/>
            </a:xfrm>
            <a:custGeom>
              <a:avLst/>
              <a:gdLst/>
              <a:ahLst/>
              <a:cxnLst/>
              <a:rect r="r" b="b" t="t" l="l"/>
              <a:pathLst>
                <a:path h="9479407" w="7818628">
                  <a:moveTo>
                    <a:pt x="0" y="0"/>
                  </a:moveTo>
                  <a:lnTo>
                    <a:pt x="7818628" y="0"/>
                  </a:lnTo>
                  <a:lnTo>
                    <a:pt x="7818628" y="9479407"/>
                  </a:lnTo>
                  <a:lnTo>
                    <a:pt x="0" y="9479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“DISTRIBUIDORA TALAGANTE”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25" y="1662820"/>
            <a:ext cx="18105148" cy="9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de datos</a:t>
            </a:r>
          </a:p>
        </p:txBody>
      </p:sp>
      <p:sp>
        <p:nvSpPr>
          <p:cNvPr name="AutoShape 6" id="6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2365310" y="3174048"/>
            <a:ext cx="13785980" cy="6866277"/>
            <a:chOff x="0" y="0"/>
            <a:chExt cx="18381306" cy="9155036"/>
          </a:xfrm>
        </p:grpSpPr>
        <p:sp>
          <p:nvSpPr>
            <p:cNvPr name="Freeform 8" id="8" descr="Diagrama  El contenido generado por IA puede ser incorrecto."/>
            <p:cNvSpPr/>
            <p:nvPr/>
          </p:nvSpPr>
          <p:spPr>
            <a:xfrm flipH="false" flipV="false" rot="0">
              <a:off x="0" y="0"/>
              <a:ext cx="18381345" cy="9155049"/>
            </a:xfrm>
            <a:custGeom>
              <a:avLst/>
              <a:gdLst/>
              <a:ahLst/>
              <a:cxnLst/>
              <a:rect r="r" b="b" t="t" l="l"/>
              <a:pathLst>
                <a:path h="9155049" w="18381345">
                  <a:moveTo>
                    <a:pt x="0" y="0"/>
                  </a:moveTo>
                  <a:lnTo>
                    <a:pt x="18381345" y="0"/>
                  </a:lnTo>
                  <a:lnTo>
                    <a:pt x="18381345" y="9155049"/>
                  </a:lnTo>
                  <a:lnTo>
                    <a:pt x="0" y="9155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2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F5F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531580" y="2334236"/>
            <a:ext cx="2710816" cy="2336174"/>
            <a:chOff x="0" y="0"/>
            <a:chExt cx="3614422" cy="31148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80" y="25400"/>
              <a:ext cx="3580664" cy="3064129"/>
            </a:xfrm>
            <a:custGeom>
              <a:avLst/>
              <a:gdLst/>
              <a:ahLst/>
              <a:cxnLst/>
              <a:rect r="r" b="b" t="t" l="l"/>
              <a:pathLst>
                <a:path h="3064129" w="3580664">
                  <a:moveTo>
                    <a:pt x="0" y="510667"/>
                  </a:moveTo>
                  <a:cubicBezTo>
                    <a:pt x="0" y="228600"/>
                    <a:pt x="153013" y="0"/>
                    <a:pt x="341811" y="0"/>
                  </a:cubicBezTo>
                  <a:lnTo>
                    <a:pt x="3238852" y="0"/>
                  </a:lnTo>
                  <a:cubicBezTo>
                    <a:pt x="3427650" y="0"/>
                    <a:pt x="3580664" y="228600"/>
                    <a:pt x="3580664" y="510667"/>
                  </a:cubicBezTo>
                  <a:lnTo>
                    <a:pt x="3580664" y="2553462"/>
                  </a:lnTo>
                  <a:cubicBezTo>
                    <a:pt x="3580664" y="2835529"/>
                    <a:pt x="3427650" y="3064129"/>
                    <a:pt x="3238852" y="3064129"/>
                  </a:cubicBezTo>
                  <a:lnTo>
                    <a:pt x="341811" y="3064129"/>
                  </a:lnTo>
                  <a:cubicBezTo>
                    <a:pt x="153013" y="3064129"/>
                    <a:pt x="0" y="2835529"/>
                    <a:pt x="0" y="2553462"/>
                  </a:cubicBezTo>
                  <a:close/>
                </a:path>
              </a:pathLst>
            </a:custGeom>
            <a:solidFill>
              <a:srgbClr val="B3C6E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4424" cy="3114929"/>
            </a:xfrm>
            <a:custGeom>
              <a:avLst/>
              <a:gdLst/>
              <a:ahLst/>
              <a:cxnLst/>
              <a:rect r="r" b="b" t="t" l="l"/>
              <a:pathLst>
                <a:path h="3114929" w="3614424">
                  <a:moveTo>
                    <a:pt x="0" y="536067"/>
                  </a:moveTo>
                  <a:cubicBezTo>
                    <a:pt x="0" y="239903"/>
                    <a:pt x="160694" y="0"/>
                    <a:pt x="358691" y="0"/>
                  </a:cubicBezTo>
                  <a:lnTo>
                    <a:pt x="3255732" y="0"/>
                  </a:lnTo>
                  <a:lnTo>
                    <a:pt x="3255732" y="25400"/>
                  </a:lnTo>
                  <a:lnTo>
                    <a:pt x="3255732" y="0"/>
                  </a:lnTo>
                  <a:cubicBezTo>
                    <a:pt x="3453730" y="0"/>
                    <a:pt x="3614424" y="239903"/>
                    <a:pt x="3614424" y="536067"/>
                  </a:cubicBezTo>
                  <a:lnTo>
                    <a:pt x="3597544" y="536067"/>
                  </a:lnTo>
                  <a:lnTo>
                    <a:pt x="3614424" y="536067"/>
                  </a:lnTo>
                  <a:lnTo>
                    <a:pt x="3614424" y="2578862"/>
                  </a:lnTo>
                  <a:lnTo>
                    <a:pt x="3597544" y="2578862"/>
                  </a:lnTo>
                  <a:lnTo>
                    <a:pt x="3614424" y="2578862"/>
                  </a:lnTo>
                  <a:cubicBezTo>
                    <a:pt x="3614424" y="2875153"/>
                    <a:pt x="3453730" y="3114929"/>
                    <a:pt x="3255732" y="3114929"/>
                  </a:cubicBezTo>
                  <a:lnTo>
                    <a:pt x="3255732" y="3089529"/>
                  </a:lnTo>
                  <a:lnTo>
                    <a:pt x="3255732" y="3114929"/>
                  </a:lnTo>
                  <a:lnTo>
                    <a:pt x="358691" y="3114929"/>
                  </a:lnTo>
                  <a:lnTo>
                    <a:pt x="358691" y="3089529"/>
                  </a:lnTo>
                  <a:lnTo>
                    <a:pt x="358691" y="3114929"/>
                  </a:lnTo>
                  <a:cubicBezTo>
                    <a:pt x="160694" y="3114929"/>
                    <a:pt x="0" y="2875026"/>
                    <a:pt x="0" y="2578862"/>
                  </a:cubicBezTo>
                  <a:lnTo>
                    <a:pt x="0" y="536067"/>
                  </a:lnTo>
                  <a:lnTo>
                    <a:pt x="16880" y="536067"/>
                  </a:lnTo>
                  <a:lnTo>
                    <a:pt x="0" y="536067"/>
                  </a:lnTo>
                  <a:moveTo>
                    <a:pt x="33759" y="536067"/>
                  </a:moveTo>
                  <a:lnTo>
                    <a:pt x="33759" y="2578862"/>
                  </a:lnTo>
                  <a:lnTo>
                    <a:pt x="16880" y="2578862"/>
                  </a:lnTo>
                  <a:lnTo>
                    <a:pt x="33759" y="2578862"/>
                  </a:lnTo>
                  <a:cubicBezTo>
                    <a:pt x="33759" y="2846705"/>
                    <a:pt x="179092" y="3064129"/>
                    <a:pt x="358691" y="3064129"/>
                  </a:cubicBezTo>
                  <a:lnTo>
                    <a:pt x="3255732" y="3064129"/>
                  </a:lnTo>
                  <a:cubicBezTo>
                    <a:pt x="3435247" y="3064129"/>
                    <a:pt x="3580664" y="2846705"/>
                    <a:pt x="3580664" y="2578862"/>
                  </a:cubicBezTo>
                  <a:lnTo>
                    <a:pt x="3580664" y="536067"/>
                  </a:lnTo>
                  <a:cubicBezTo>
                    <a:pt x="3580664" y="268224"/>
                    <a:pt x="3435331" y="50800"/>
                    <a:pt x="3255732" y="50800"/>
                  </a:cubicBezTo>
                  <a:lnTo>
                    <a:pt x="358691" y="50800"/>
                  </a:lnTo>
                  <a:lnTo>
                    <a:pt x="358691" y="25400"/>
                  </a:lnTo>
                  <a:lnTo>
                    <a:pt x="358691" y="50800"/>
                  </a:lnTo>
                  <a:cubicBezTo>
                    <a:pt x="179092" y="50800"/>
                    <a:pt x="33759" y="268224"/>
                    <a:pt x="33759" y="53606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542896" y="3495178"/>
            <a:ext cx="5025259" cy="5025260"/>
            <a:chOff x="0" y="0"/>
            <a:chExt cx="6700346" cy="67003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040628" y="1370838"/>
              <a:ext cx="360426" cy="602996"/>
            </a:xfrm>
            <a:custGeom>
              <a:avLst/>
              <a:gdLst/>
              <a:ahLst/>
              <a:cxnLst/>
              <a:rect r="r" b="b" t="t" l="l"/>
              <a:pathLst>
                <a:path h="602996" w="360426">
                  <a:moveTo>
                    <a:pt x="7747" y="0"/>
                  </a:moveTo>
                  <a:cubicBezTo>
                    <a:pt x="10795" y="0"/>
                    <a:pt x="13589" y="1397"/>
                    <a:pt x="15494" y="3937"/>
                  </a:cubicBezTo>
                  <a:cubicBezTo>
                    <a:pt x="150368" y="188722"/>
                    <a:pt x="265938" y="386715"/>
                    <a:pt x="360426" y="595122"/>
                  </a:cubicBezTo>
                  <a:lnTo>
                    <a:pt x="343027" y="602996"/>
                  </a:lnTo>
                  <a:cubicBezTo>
                    <a:pt x="249047" y="395859"/>
                    <a:pt x="134112" y="198882"/>
                    <a:pt x="0" y="15240"/>
                  </a:cubicBezTo>
                  <a:lnTo>
                    <a:pt x="7747" y="9652"/>
                  </a:lnTo>
                  <a:lnTo>
                    <a:pt x="7747" y="19177"/>
                  </a:lnTo>
                  <a:close/>
                </a:path>
              </a:pathLst>
            </a:custGeom>
            <a:solidFill>
              <a:srgbClr val="4372C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460695" y="4958302"/>
            <a:ext cx="4200634" cy="2099012"/>
            <a:chOff x="0" y="0"/>
            <a:chExt cx="5600846" cy="27986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5400" y="25400"/>
              <a:ext cx="5550154" cy="2747899"/>
            </a:xfrm>
            <a:custGeom>
              <a:avLst/>
              <a:gdLst/>
              <a:ahLst/>
              <a:cxnLst/>
              <a:rect r="r" b="b" t="t" l="l"/>
              <a:pathLst>
                <a:path h="2747899" w="5550154">
                  <a:moveTo>
                    <a:pt x="0" y="457962"/>
                  </a:moveTo>
                  <a:cubicBezTo>
                    <a:pt x="0" y="205105"/>
                    <a:pt x="206883" y="0"/>
                    <a:pt x="462280" y="0"/>
                  </a:cubicBezTo>
                  <a:lnTo>
                    <a:pt x="5087874" y="0"/>
                  </a:lnTo>
                  <a:cubicBezTo>
                    <a:pt x="5343144" y="0"/>
                    <a:pt x="5550154" y="205105"/>
                    <a:pt x="5550154" y="457962"/>
                  </a:cubicBezTo>
                  <a:lnTo>
                    <a:pt x="5550154" y="2289937"/>
                  </a:lnTo>
                  <a:cubicBezTo>
                    <a:pt x="5550154" y="2542921"/>
                    <a:pt x="5343271" y="2747899"/>
                    <a:pt x="5087874" y="2747899"/>
                  </a:cubicBezTo>
                  <a:lnTo>
                    <a:pt x="462280" y="2747899"/>
                  </a:lnTo>
                  <a:cubicBezTo>
                    <a:pt x="207010" y="2747899"/>
                    <a:pt x="0" y="2542794"/>
                    <a:pt x="0" y="2289937"/>
                  </a:cubicBezTo>
                  <a:close/>
                </a:path>
              </a:pathLst>
            </a:custGeom>
            <a:solidFill>
              <a:srgbClr val="B3C6E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00954" cy="2798699"/>
            </a:xfrm>
            <a:custGeom>
              <a:avLst/>
              <a:gdLst/>
              <a:ahLst/>
              <a:cxnLst/>
              <a:rect r="r" b="b" t="t" l="l"/>
              <a:pathLst>
                <a:path h="2798699" w="5600954">
                  <a:moveTo>
                    <a:pt x="0" y="483362"/>
                  </a:moveTo>
                  <a:cubicBezTo>
                    <a:pt x="0" y="216154"/>
                    <a:pt x="218567" y="0"/>
                    <a:pt x="487680" y="0"/>
                  </a:cubicBezTo>
                  <a:lnTo>
                    <a:pt x="5113274" y="0"/>
                  </a:lnTo>
                  <a:lnTo>
                    <a:pt x="5113274" y="25400"/>
                  </a:lnTo>
                  <a:lnTo>
                    <a:pt x="5113274" y="0"/>
                  </a:lnTo>
                  <a:cubicBezTo>
                    <a:pt x="5382387" y="0"/>
                    <a:pt x="5600954" y="216154"/>
                    <a:pt x="5600954" y="483362"/>
                  </a:cubicBezTo>
                  <a:lnTo>
                    <a:pt x="5575554" y="483362"/>
                  </a:lnTo>
                  <a:lnTo>
                    <a:pt x="5600954" y="483362"/>
                  </a:lnTo>
                  <a:lnTo>
                    <a:pt x="5600954" y="2315337"/>
                  </a:lnTo>
                  <a:lnTo>
                    <a:pt x="5575554" y="2315337"/>
                  </a:lnTo>
                  <a:lnTo>
                    <a:pt x="5600954" y="2315337"/>
                  </a:lnTo>
                  <a:cubicBezTo>
                    <a:pt x="5600954" y="2582545"/>
                    <a:pt x="5382387" y="2798699"/>
                    <a:pt x="5113274" y="2798699"/>
                  </a:cubicBezTo>
                  <a:lnTo>
                    <a:pt x="5113274" y="2773299"/>
                  </a:lnTo>
                  <a:lnTo>
                    <a:pt x="5113274" y="2798699"/>
                  </a:lnTo>
                  <a:lnTo>
                    <a:pt x="487680" y="2798699"/>
                  </a:lnTo>
                  <a:lnTo>
                    <a:pt x="487680" y="2773299"/>
                  </a:lnTo>
                  <a:lnTo>
                    <a:pt x="487680" y="2798699"/>
                  </a:lnTo>
                  <a:cubicBezTo>
                    <a:pt x="218567" y="2798699"/>
                    <a:pt x="0" y="2582418"/>
                    <a:pt x="0" y="2315337"/>
                  </a:cubicBezTo>
                  <a:lnTo>
                    <a:pt x="0" y="483362"/>
                  </a:lnTo>
                  <a:lnTo>
                    <a:pt x="25400" y="483362"/>
                  </a:lnTo>
                  <a:lnTo>
                    <a:pt x="0" y="483362"/>
                  </a:lnTo>
                  <a:moveTo>
                    <a:pt x="50800" y="483362"/>
                  </a:moveTo>
                  <a:lnTo>
                    <a:pt x="50800" y="2315337"/>
                  </a:lnTo>
                  <a:lnTo>
                    <a:pt x="25400" y="2315337"/>
                  </a:lnTo>
                  <a:lnTo>
                    <a:pt x="50800" y="2315337"/>
                  </a:lnTo>
                  <a:cubicBezTo>
                    <a:pt x="50800" y="2553970"/>
                    <a:pt x="246126" y="2747899"/>
                    <a:pt x="487680" y="2747899"/>
                  </a:cubicBezTo>
                  <a:lnTo>
                    <a:pt x="5113274" y="2747899"/>
                  </a:lnTo>
                  <a:cubicBezTo>
                    <a:pt x="5354701" y="2747899"/>
                    <a:pt x="5550154" y="2553970"/>
                    <a:pt x="5550154" y="2315337"/>
                  </a:cubicBezTo>
                  <a:lnTo>
                    <a:pt x="5550154" y="483362"/>
                  </a:lnTo>
                  <a:cubicBezTo>
                    <a:pt x="5550027" y="244729"/>
                    <a:pt x="5354701" y="50800"/>
                    <a:pt x="5113274" y="50800"/>
                  </a:cubicBezTo>
                  <a:lnTo>
                    <a:pt x="487680" y="50800"/>
                  </a:lnTo>
                  <a:lnTo>
                    <a:pt x="487680" y="25400"/>
                  </a:lnTo>
                  <a:lnTo>
                    <a:pt x="487680" y="50800"/>
                  </a:lnTo>
                  <a:cubicBezTo>
                    <a:pt x="246126" y="50800"/>
                    <a:pt x="50800" y="244729"/>
                    <a:pt x="50800" y="48336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982023" y="3065305"/>
            <a:ext cx="5025260" cy="5025259"/>
            <a:chOff x="0" y="0"/>
            <a:chExt cx="6700346" cy="67003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300599" y="5300472"/>
              <a:ext cx="765556" cy="765556"/>
            </a:xfrm>
            <a:custGeom>
              <a:avLst/>
              <a:gdLst/>
              <a:ahLst/>
              <a:cxnLst/>
              <a:rect r="r" b="b" t="t" l="l"/>
              <a:pathLst>
                <a:path h="765556" w="765556">
                  <a:moveTo>
                    <a:pt x="765556" y="11176"/>
                  </a:moveTo>
                  <a:cubicBezTo>
                    <a:pt x="556006" y="301371"/>
                    <a:pt x="301244" y="556006"/>
                    <a:pt x="11176" y="765556"/>
                  </a:cubicBezTo>
                  <a:lnTo>
                    <a:pt x="0" y="750062"/>
                  </a:lnTo>
                  <a:cubicBezTo>
                    <a:pt x="288417" y="541655"/>
                    <a:pt x="541782" y="288417"/>
                    <a:pt x="750062" y="0"/>
                  </a:cubicBezTo>
                  <a:close/>
                </a:path>
              </a:pathLst>
            </a:custGeom>
            <a:solidFill>
              <a:srgbClr val="4372C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104453" y="7594788"/>
            <a:ext cx="3902146" cy="1837014"/>
            <a:chOff x="0" y="0"/>
            <a:chExt cx="5202862" cy="24493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5152009" cy="2398522"/>
            </a:xfrm>
            <a:custGeom>
              <a:avLst/>
              <a:gdLst/>
              <a:ahLst/>
              <a:cxnLst/>
              <a:rect r="r" b="b" t="t" l="l"/>
              <a:pathLst>
                <a:path h="2398522" w="5152009">
                  <a:moveTo>
                    <a:pt x="0" y="399796"/>
                  </a:moveTo>
                  <a:cubicBezTo>
                    <a:pt x="0" y="178943"/>
                    <a:pt x="180975" y="0"/>
                    <a:pt x="404241" y="0"/>
                  </a:cubicBezTo>
                  <a:lnTo>
                    <a:pt x="4747768" y="0"/>
                  </a:lnTo>
                  <a:cubicBezTo>
                    <a:pt x="4971034" y="0"/>
                    <a:pt x="5152009" y="178943"/>
                    <a:pt x="5152009" y="399796"/>
                  </a:cubicBezTo>
                  <a:lnTo>
                    <a:pt x="5152009" y="1998726"/>
                  </a:lnTo>
                  <a:cubicBezTo>
                    <a:pt x="5152009" y="2219452"/>
                    <a:pt x="4971034" y="2398522"/>
                    <a:pt x="4747768" y="2398522"/>
                  </a:cubicBezTo>
                  <a:lnTo>
                    <a:pt x="404241" y="2398522"/>
                  </a:lnTo>
                  <a:cubicBezTo>
                    <a:pt x="180975" y="2398522"/>
                    <a:pt x="0" y="2219579"/>
                    <a:pt x="0" y="1998726"/>
                  </a:cubicBezTo>
                  <a:close/>
                </a:path>
              </a:pathLst>
            </a:custGeom>
            <a:solidFill>
              <a:srgbClr val="B3C6E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02809" cy="2449322"/>
            </a:xfrm>
            <a:custGeom>
              <a:avLst/>
              <a:gdLst/>
              <a:ahLst/>
              <a:cxnLst/>
              <a:rect r="r" b="b" t="t" l="l"/>
              <a:pathLst>
                <a:path h="2449322" w="5202809">
                  <a:moveTo>
                    <a:pt x="0" y="425196"/>
                  </a:moveTo>
                  <a:cubicBezTo>
                    <a:pt x="0" y="190119"/>
                    <a:pt x="192659" y="0"/>
                    <a:pt x="429641" y="0"/>
                  </a:cubicBezTo>
                  <a:lnTo>
                    <a:pt x="4773168" y="0"/>
                  </a:lnTo>
                  <a:lnTo>
                    <a:pt x="4773168" y="25400"/>
                  </a:lnTo>
                  <a:lnTo>
                    <a:pt x="4773168" y="0"/>
                  </a:lnTo>
                  <a:cubicBezTo>
                    <a:pt x="5010150" y="0"/>
                    <a:pt x="5202809" y="190119"/>
                    <a:pt x="5202809" y="425196"/>
                  </a:cubicBezTo>
                  <a:lnTo>
                    <a:pt x="5177409" y="425196"/>
                  </a:lnTo>
                  <a:lnTo>
                    <a:pt x="5202809" y="425196"/>
                  </a:lnTo>
                  <a:lnTo>
                    <a:pt x="5202809" y="2024126"/>
                  </a:lnTo>
                  <a:lnTo>
                    <a:pt x="5177409" y="2024126"/>
                  </a:lnTo>
                  <a:lnTo>
                    <a:pt x="5202809" y="2024126"/>
                  </a:lnTo>
                  <a:cubicBezTo>
                    <a:pt x="5202809" y="2259203"/>
                    <a:pt x="5010150" y="2449322"/>
                    <a:pt x="4773168" y="2449322"/>
                  </a:cubicBezTo>
                  <a:lnTo>
                    <a:pt x="4773168" y="2423922"/>
                  </a:lnTo>
                  <a:lnTo>
                    <a:pt x="4773168" y="2449322"/>
                  </a:lnTo>
                  <a:lnTo>
                    <a:pt x="429641" y="2449322"/>
                  </a:lnTo>
                  <a:lnTo>
                    <a:pt x="429641" y="2423922"/>
                  </a:lnTo>
                  <a:lnTo>
                    <a:pt x="429641" y="2449322"/>
                  </a:lnTo>
                  <a:cubicBezTo>
                    <a:pt x="192659" y="2449322"/>
                    <a:pt x="0" y="2259203"/>
                    <a:pt x="0" y="2024126"/>
                  </a:cubicBezTo>
                  <a:lnTo>
                    <a:pt x="0" y="425196"/>
                  </a:lnTo>
                  <a:lnTo>
                    <a:pt x="25400" y="425196"/>
                  </a:lnTo>
                  <a:lnTo>
                    <a:pt x="0" y="425196"/>
                  </a:lnTo>
                  <a:moveTo>
                    <a:pt x="50800" y="425196"/>
                  </a:moveTo>
                  <a:lnTo>
                    <a:pt x="50800" y="2024126"/>
                  </a:lnTo>
                  <a:lnTo>
                    <a:pt x="25400" y="2024126"/>
                  </a:lnTo>
                  <a:lnTo>
                    <a:pt x="50800" y="2024126"/>
                  </a:lnTo>
                  <a:cubicBezTo>
                    <a:pt x="50800" y="2230628"/>
                    <a:pt x="220091" y="2398522"/>
                    <a:pt x="429641" y="2398522"/>
                  </a:cubicBezTo>
                  <a:lnTo>
                    <a:pt x="4773168" y="2398522"/>
                  </a:lnTo>
                  <a:cubicBezTo>
                    <a:pt x="4982718" y="2398522"/>
                    <a:pt x="5152009" y="2230628"/>
                    <a:pt x="5152009" y="2024126"/>
                  </a:cubicBezTo>
                  <a:lnTo>
                    <a:pt x="5152009" y="425196"/>
                  </a:lnTo>
                  <a:cubicBezTo>
                    <a:pt x="5152009" y="218694"/>
                    <a:pt x="4982718" y="50800"/>
                    <a:pt x="4773168" y="50800"/>
                  </a:cubicBezTo>
                  <a:lnTo>
                    <a:pt x="429641" y="50800"/>
                  </a:lnTo>
                  <a:lnTo>
                    <a:pt x="429641" y="25400"/>
                  </a:lnTo>
                  <a:lnTo>
                    <a:pt x="429641" y="50800"/>
                  </a:lnTo>
                  <a:cubicBezTo>
                    <a:pt x="220091" y="50800"/>
                    <a:pt x="50800" y="218694"/>
                    <a:pt x="50800" y="42519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047371" y="3026012"/>
            <a:ext cx="5025260" cy="5025260"/>
            <a:chOff x="0" y="0"/>
            <a:chExt cx="6700346" cy="67003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582422" y="5227066"/>
              <a:ext cx="894778" cy="892302"/>
            </a:xfrm>
            <a:custGeom>
              <a:avLst/>
              <a:gdLst/>
              <a:ahLst/>
              <a:cxnLst/>
              <a:rect r="r" b="b" t="t" l="l"/>
              <a:pathLst>
                <a:path h="892302" w="894778">
                  <a:moveTo>
                    <a:pt x="885317" y="873379"/>
                  </a:moveTo>
                  <a:lnTo>
                    <a:pt x="885317" y="882904"/>
                  </a:lnTo>
                  <a:lnTo>
                    <a:pt x="879983" y="890778"/>
                  </a:lnTo>
                  <a:cubicBezTo>
                    <a:pt x="534289" y="654939"/>
                    <a:pt x="235839" y="356489"/>
                    <a:pt x="0" y="10795"/>
                  </a:cubicBezTo>
                  <a:lnTo>
                    <a:pt x="15748" y="0"/>
                  </a:lnTo>
                  <a:cubicBezTo>
                    <a:pt x="250190" y="343662"/>
                    <a:pt x="546989" y="640461"/>
                    <a:pt x="890651" y="874903"/>
                  </a:cubicBezTo>
                  <a:cubicBezTo>
                    <a:pt x="894080" y="877316"/>
                    <a:pt x="895604" y="881634"/>
                    <a:pt x="894334" y="885571"/>
                  </a:cubicBezTo>
                  <a:cubicBezTo>
                    <a:pt x="893064" y="889508"/>
                    <a:pt x="889381" y="892302"/>
                    <a:pt x="885190" y="892302"/>
                  </a:cubicBezTo>
                  <a:close/>
                </a:path>
              </a:pathLst>
            </a:custGeom>
            <a:solidFill>
              <a:srgbClr val="4372C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626658" y="5053991"/>
            <a:ext cx="3846762" cy="1907634"/>
            <a:chOff x="0" y="0"/>
            <a:chExt cx="5129016" cy="25435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25400" y="25400"/>
              <a:ext cx="5078222" cy="2492629"/>
            </a:xfrm>
            <a:custGeom>
              <a:avLst/>
              <a:gdLst/>
              <a:ahLst/>
              <a:cxnLst/>
              <a:rect r="r" b="b" t="t" l="l"/>
              <a:pathLst>
                <a:path h="2492629" w="5078222">
                  <a:moveTo>
                    <a:pt x="0" y="415417"/>
                  </a:moveTo>
                  <a:cubicBezTo>
                    <a:pt x="0" y="186055"/>
                    <a:pt x="187960" y="0"/>
                    <a:pt x="419735" y="0"/>
                  </a:cubicBezTo>
                  <a:lnTo>
                    <a:pt x="4658487" y="0"/>
                  </a:lnTo>
                  <a:cubicBezTo>
                    <a:pt x="4890262" y="0"/>
                    <a:pt x="5078222" y="186055"/>
                    <a:pt x="5078222" y="415417"/>
                  </a:cubicBezTo>
                  <a:lnTo>
                    <a:pt x="5078222" y="2077212"/>
                  </a:lnTo>
                  <a:cubicBezTo>
                    <a:pt x="5078222" y="2306701"/>
                    <a:pt x="4890262" y="2492629"/>
                    <a:pt x="4658487" y="2492629"/>
                  </a:cubicBezTo>
                  <a:lnTo>
                    <a:pt x="419735" y="2492629"/>
                  </a:lnTo>
                  <a:cubicBezTo>
                    <a:pt x="187960" y="2492756"/>
                    <a:pt x="0" y="2306701"/>
                    <a:pt x="0" y="2077212"/>
                  </a:cubicBezTo>
                  <a:close/>
                </a:path>
              </a:pathLst>
            </a:custGeom>
            <a:solidFill>
              <a:srgbClr val="B3C6E7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9022" cy="2543429"/>
            </a:xfrm>
            <a:custGeom>
              <a:avLst/>
              <a:gdLst/>
              <a:ahLst/>
              <a:cxnLst/>
              <a:rect r="r" b="b" t="t" l="l"/>
              <a:pathLst>
                <a:path h="2543429" w="5129022">
                  <a:moveTo>
                    <a:pt x="0" y="440817"/>
                  </a:moveTo>
                  <a:cubicBezTo>
                    <a:pt x="0" y="197104"/>
                    <a:pt x="199517" y="0"/>
                    <a:pt x="445135" y="0"/>
                  </a:cubicBezTo>
                  <a:lnTo>
                    <a:pt x="4683887" y="0"/>
                  </a:lnTo>
                  <a:lnTo>
                    <a:pt x="4683887" y="25400"/>
                  </a:lnTo>
                  <a:lnTo>
                    <a:pt x="4683887" y="0"/>
                  </a:lnTo>
                  <a:cubicBezTo>
                    <a:pt x="4929505" y="0"/>
                    <a:pt x="5129022" y="197104"/>
                    <a:pt x="5129022" y="440817"/>
                  </a:cubicBezTo>
                  <a:lnTo>
                    <a:pt x="5103622" y="440817"/>
                  </a:lnTo>
                  <a:lnTo>
                    <a:pt x="5129022" y="440817"/>
                  </a:lnTo>
                  <a:lnTo>
                    <a:pt x="5129022" y="2102612"/>
                  </a:lnTo>
                  <a:lnTo>
                    <a:pt x="5103622" y="2102612"/>
                  </a:lnTo>
                  <a:lnTo>
                    <a:pt x="5129022" y="2102612"/>
                  </a:lnTo>
                  <a:cubicBezTo>
                    <a:pt x="5129022" y="2346325"/>
                    <a:pt x="4929505" y="2543429"/>
                    <a:pt x="4683887" y="2543429"/>
                  </a:cubicBezTo>
                  <a:lnTo>
                    <a:pt x="4683887" y="2518029"/>
                  </a:lnTo>
                  <a:lnTo>
                    <a:pt x="4683887" y="2543429"/>
                  </a:lnTo>
                  <a:lnTo>
                    <a:pt x="445135" y="2543429"/>
                  </a:lnTo>
                  <a:lnTo>
                    <a:pt x="445135" y="2518029"/>
                  </a:lnTo>
                  <a:lnTo>
                    <a:pt x="445135" y="2543429"/>
                  </a:lnTo>
                  <a:cubicBezTo>
                    <a:pt x="199517" y="2543556"/>
                    <a:pt x="0" y="2346325"/>
                    <a:pt x="0" y="2102612"/>
                  </a:cubicBezTo>
                  <a:lnTo>
                    <a:pt x="0" y="440817"/>
                  </a:lnTo>
                  <a:lnTo>
                    <a:pt x="25400" y="440817"/>
                  </a:lnTo>
                  <a:lnTo>
                    <a:pt x="0" y="440817"/>
                  </a:lnTo>
                  <a:moveTo>
                    <a:pt x="50800" y="440817"/>
                  </a:moveTo>
                  <a:lnTo>
                    <a:pt x="50800" y="2102612"/>
                  </a:lnTo>
                  <a:lnTo>
                    <a:pt x="25400" y="2102612"/>
                  </a:lnTo>
                  <a:lnTo>
                    <a:pt x="50800" y="2102612"/>
                  </a:lnTo>
                  <a:cubicBezTo>
                    <a:pt x="50800" y="2317750"/>
                    <a:pt x="227076" y="2492629"/>
                    <a:pt x="445135" y="2492629"/>
                  </a:cubicBezTo>
                  <a:lnTo>
                    <a:pt x="4683887" y="2492629"/>
                  </a:lnTo>
                  <a:cubicBezTo>
                    <a:pt x="4901946" y="2492629"/>
                    <a:pt x="5078222" y="2317750"/>
                    <a:pt x="5078222" y="2102612"/>
                  </a:cubicBezTo>
                  <a:lnTo>
                    <a:pt x="5078222" y="440817"/>
                  </a:lnTo>
                  <a:cubicBezTo>
                    <a:pt x="5078222" y="225679"/>
                    <a:pt x="4901946" y="50800"/>
                    <a:pt x="4683887" y="50800"/>
                  </a:cubicBezTo>
                  <a:lnTo>
                    <a:pt x="445135" y="50800"/>
                  </a:lnTo>
                  <a:lnTo>
                    <a:pt x="445135" y="25400"/>
                  </a:lnTo>
                  <a:lnTo>
                    <a:pt x="445135" y="50800"/>
                  </a:lnTo>
                  <a:cubicBezTo>
                    <a:pt x="227076" y="50800"/>
                    <a:pt x="50800" y="225679"/>
                    <a:pt x="50800" y="44081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542896" y="3495178"/>
            <a:ext cx="5025259" cy="5025260"/>
            <a:chOff x="0" y="0"/>
            <a:chExt cx="6700346" cy="67003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44983" y="1376045"/>
              <a:ext cx="413893" cy="729615"/>
            </a:xfrm>
            <a:custGeom>
              <a:avLst/>
              <a:gdLst/>
              <a:ahLst/>
              <a:cxnLst/>
              <a:rect r="r" b="b" t="t" l="l"/>
              <a:pathLst>
                <a:path h="729615" w="413893">
                  <a:moveTo>
                    <a:pt x="8890" y="710565"/>
                  </a:moveTo>
                  <a:lnTo>
                    <a:pt x="8890" y="720090"/>
                  </a:lnTo>
                  <a:lnTo>
                    <a:pt x="0" y="716534"/>
                  </a:lnTo>
                  <a:cubicBezTo>
                    <a:pt x="102997" y="462280"/>
                    <a:pt x="236855" y="221615"/>
                    <a:pt x="398526" y="0"/>
                  </a:cubicBezTo>
                  <a:lnTo>
                    <a:pt x="413893" y="11176"/>
                  </a:lnTo>
                  <a:cubicBezTo>
                    <a:pt x="253111" y="231521"/>
                    <a:pt x="120015" y="470789"/>
                    <a:pt x="17653" y="723646"/>
                  </a:cubicBezTo>
                  <a:cubicBezTo>
                    <a:pt x="16256" y="727202"/>
                    <a:pt x="12700" y="729615"/>
                    <a:pt x="8763" y="729615"/>
                  </a:cubicBez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8249315" y="2603599"/>
            <a:ext cx="1275345" cy="1421253"/>
          </a:xfrm>
          <a:custGeom>
            <a:avLst/>
            <a:gdLst/>
            <a:ahLst/>
            <a:cxnLst/>
            <a:rect r="r" b="b" t="t" l="l"/>
            <a:pathLst>
              <a:path h="1421253" w="1275345">
                <a:moveTo>
                  <a:pt x="0" y="0"/>
                </a:moveTo>
                <a:lnTo>
                  <a:pt x="1275346" y="0"/>
                </a:lnTo>
                <a:lnTo>
                  <a:pt x="1275346" y="1421254"/>
                </a:lnTo>
                <a:lnTo>
                  <a:pt x="0" y="1421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05977" y="5143500"/>
            <a:ext cx="1545905" cy="1601974"/>
          </a:xfrm>
          <a:custGeom>
            <a:avLst/>
            <a:gdLst/>
            <a:ahLst/>
            <a:cxnLst/>
            <a:rect r="r" b="b" t="t" l="l"/>
            <a:pathLst>
              <a:path h="1601974" w="1545905">
                <a:moveTo>
                  <a:pt x="0" y="0"/>
                </a:moveTo>
                <a:lnTo>
                  <a:pt x="1545905" y="0"/>
                </a:lnTo>
                <a:lnTo>
                  <a:pt x="1545905" y="1601974"/>
                </a:lnTo>
                <a:lnTo>
                  <a:pt x="0" y="1601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663373" y="5695195"/>
            <a:ext cx="964926" cy="975905"/>
          </a:xfrm>
          <a:custGeom>
            <a:avLst/>
            <a:gdLst/>
            <a:ahLst/>
            <a:cxnLst/>
            <a:rect r="r" b="b" t="t" l="l"/>
            <a:pathLst>
              <a:path h="975905" w="964926">
                <a:moveTo>
                  <a:pt x="0" y="0"/>
                </a:moveTo>
                <a:lnTo>
                  <a:pt x="964926" y="0"/>
                </a:lnTo>
                <a:lnTo>
                  <a:pt x="964926" y="975905"/>
                </a:lnTo>
                <a:lnTo>
                  <a:pt x="0" y="9759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839131" y="5538642"/>
            <a:ext cx="638193" cy="805291"/>
          </a:xfrm>
          <a:custGeom>
            <a:avLst/>
            <a:gdLst/>
            <a:ahLst/>
            <a:cxnLst/>
            <a:rect r="r" b="b" t="t" l="l"/>
            <a:pathLst>
              <a:path h="805291" w="638193">
                <a:moveTo>
                  <a:pt x="0" y="0"/>
                </a:moveTo>
                <a:lnTo>
                  <a:pt x="638194" y="0"/>
                </a:lnTo>
                <a:lnTo>
                  <a:pt x="638194" y="805291"/>
                </a:lnTo>
                <a:lnTo>
                  <a:pt x="0" y="8052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518936" y="7778936"/>
            <a:ext cx="1460758" cy="1483003"/>
          </a:xfrm>
          <a:custGeom>
            <a:avLst/>
            <a:gdLst/>
            <a:ahLst/>
            <a:cxnLst/>
            <a:rect r="r" b="b" t="t" l="l"/>
            <a:pathLst>
              <a:path h="1483003" w="1460758">
                <a:moveTo>
                  <a:pt x="0" y="0"/>
                </a:moveTo>
                <a:lnTo>
                  <a:pt x="1460759" y="0"/>
                </a:lnTo>
                <a:lnTo>
                  <a:pt x="1460759" y="1483003"/>
                </a:lnTo>
                <a:lnTo>
                  <a:pt x="0" y="1483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695950" y="5214406"/>
            <a:ext cx="1076523" cy="1076523"/>
          </a:xfrm>
          <a:custGeom>
            <a:avLst/>
            <a:gdLst/>
            <a:ahLst/>
            <a:cxnLst/>
            <a:rect r="r" b="b" t="t" l="l"/>
            <a:pathLst>
              <a:path h="1076523" w="1076523">
                <a:moveTo>
                  <a:pt x="0" y="0"/>
                </a:moveTo>
                <a:lnTo>
                  <a:pt x="1076523" y="0"/>
                </a:lnTo>
                <a:lnTo>
                  <a:pt x="1076523" y="1076523"/>
                </a:lnTo>
                <a:lnTo>
                  <a:pt x="0" y="10765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721627" y="6159390"/>
            <a:ext cx="611719" cy="627347"/>
          </a:xfrm>
          <a:custGeom>
            <a:avLst/>
            <a:gdLst/>
            <a:ahLst/>
            <a:cxnLst/>
            <a:rect r="r" b="b" t="t" l="l"/>
            <a:pathLst>
              <a:path h="627347" w="611719">
                <a:moveTo>
                  <a:pt x="0" y="0"/>
                </a:moveTo>
                <a:lnTo>
                  <a:pt x="611719" y="0"/>
                </a:lnTo>
                <a:lnTo>
                  <a:pt x="611719" y="627348"/>
                </a:lnTo>
                <a:lnTo>
                  <a:pt x="0" y="6273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-2554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542896" y="6290929"/>
            <a:ext cx="560760" cy="563835"/>
          </a:xfrm>
          <a:custGeom>
            <a:avLst/>
            <a:gdLst/>
            <a:ahLst/>
            <a:cxnLst/>
            <a:rect r="r" b="b" t="t" l="l"/>
            <a:pathLst>
              <a:path h="563835" w="560760">
                <a:moveTo>
                  <a:pt x="0" y="0"/>
                </a:moveTo>
                <a:lnTo>
                  <a:pt x="560760" y="0"/>
                </a:lnTo>
                <a:lnTo>
                  <a:pt x="560760" y="563835"/>
                </a:lnTo>
                <a:lnTo>
                  <a:pt x="0" y="5638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95707" y="541942"/>
            <a:ext cx="18105148" cy="51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“NOMBRE DEL PROYECTO”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22" y="1126987"/>
            <a:ext cx="18105148" cy="99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Tecnologías utilizadas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65482" y="4050322"/>
            <a:ext cx="244301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2"/>
              </a:lnSpc>
              <a:spcBef>
                <a:spcPct val="0"/>
              </a:spcBef>
            </a:pPr>
            <a:r>
              <a:rPr lang="en-US" sz="2785">
                <a:solidFill>
                  <a:srgbClr val="FBFFFF"/>
                </a:solidFill>
                <a:latin typeface="Calibri (MS)"/>
                <a:ea typeface="Calibri (MS)"/>
                <a:cs typeface="Calibri (MS)"/>
                <a:sym typeface="Calibri (MS)"/>
              </a:rPr>
              <a:t>HTML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251882" y="5176306"/>
            <a:ext cx="2378787" cy="3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  <a:spcBef>
                <a:spcPct val="0"/>
              </a:spcBef>
            </a:pPr>
            <a:r>
              <a:rPr lang="en-US" sz="2137">
                <a:solidFill>
                  <a:srgbClr val="FBFFFF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28495" y="7890346"/>
            <a:ext cx="2378787" cy="3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  <a:spcBef>
                <a:spcPct val="0"/>
              </a:spcBef>
            </a:pPr>
            <a:r>
              <a:rPr lang="en-US" sz="2137">
                <a:solidFill>
                  <a:srgbClr val="FBFFFF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82023" y="5483353"/>
            <a:ext cx="2378787" cy="101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4"/>
              </a:lnSpc>
            </a:pPr>
            <a:r>
              <a:rPr lang="en-US" sz="2137">
                <a:solidFill>
                  <a:srgbClr val="FBFFFF"/>
                </a:solidFill>
                <a:latin typeface="Calibri (MS)"/>
                <a:ea typeface="Calibri (MS)"/>
                <a:cs typeface="Calibri (MS)"/>
                <a:sym typeface="Calibri (MS)"/>
              </a:rPr>
              <a:t>Herramientas y gestión</a:t>
            </a:r>
          </a:p>
          <a:p>
            <a:pPr algn="ctr">
              <a:lnSpc>
                <a:spcPts val="256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26" y="3964513"/>
            <a:ext cx="18105148" cy="17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DEMOSTRACIÓN DEL RESULTADO DEL PROYECTO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757070"/>
                </a:solidFill>
                <a:latin typeface="Calibri (MS)"/>
                <a:ea typeface="Calibri (MS)"/>
                <a:cs typeface="Calibri (MS)"/>
                <a:sym typeface="Calibri (MS)"/>
              </a:rPr>
              <a:t>*Exposición del sistema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26" y="2091467"/>
            <a:ext cx="18105148" cy="120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Resultados obtenidos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75663" y="3853348"/>
            <a:ext cx="12559392" cy="5211535"/>
            <a:chOff x="0" y="0"/>
            <a:chExt cx="16745856" cy="69487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6720440" cy="6923278"/>
            </a:xfrm>
            <a:custGeom>
              <a:avLst/>
              <a:gdLst/>
              <a:ahLst/>
              <a:cxnLst/>
              <a:rect r="r" b="b" t="t" l="l"/>
              <a:pathLst>
                <a:path h="6923278" w="16720440">
                  <a:moveTo>
                    <a:pt x="0" y="1153922"/>
                  </a:moveTo>
                  <a:cubicBezTo>
                    <a:pt x="0" y="516636"/>
                    <a:pt x="517779" y="0"/>
                    <a:pt x="1156335" y="0"/>
                  </a:cubicBezTo>
                  <a:lnTo>
                    <a:pt x="15564104" y="0"/>
                  </a:lnTo>
                  <a:cubicBezTo>
                    <a:pt x="16202788" y="0"/>
                    <a:pt x="16720440" y="516636"/>
                    <a:pt x="16720440" y="1153922"/>
                  </a:cubicBezTo>
                  <a:lnTo>
                    <a:pt x="16720440" y="5769356"/>
                  </a:lnTo>
                  <a:cubicBezTo>
                    <a:pt x="16720440" y="6406642"/>
                    <a:pt x="16202661" y="6923278"/>
                    <a:pt x="15564104" y="6923278"/>
                  </a:cubicBezTo>
                  <a:lnTo>
                    <a:pt x="1156335" y="6923278"/>
                  </a:lnTo>
                  <a:cubicBezTo>
                    <a:pt x="517779" y="6923278"/>
                    <a:pt x="0" y="6406642"/>
                    <a:pt x="0" y="5769356"/>
                  </a:cubicBezTo>
                  <a:close/>
                </a:path>
              </a:pathLst>
            </a:custGeom>
            <a:solidFill>
              <a:srgbClr val="65CF72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745840" cy="6948678"/>
            </a:xfrm>
            <a:custGeom>
              <a:avLst/>
              <a:gdLst/>
              <a:ahLst/>
              <a:cxnLst/>
              <a:rect r="r" b="b" t="t" l="l"/>
              <a:pathLst>
                <a:path h="6948678" w="16745840">
                  <a:moveTo>
                    <a:pt x="0" y="1166622"/>
                  </a:moveTo>
                  <a:cubicBezTo>
                    <a:pt x="0" y="522224"/>
                    <a:pt x="523494" y="0"/>
                    <a:pt x="1169035" y="0"/>
                  </a:cubicBezTo>
                  <a:lnTo>
                    <a:pt x="15576804" y="0"/>
                  </a:lnTo>
                  <a:lnTo>
                    <a:pt x="15576804" y="12700"/>
                  </a:lnTo>
                  <a:lnTo>
                    <a:pt x="15576804" y="0"/>
                  </a:lnTo>
                  <a:cubicBezTo>
                    <a:pt x="16222472" y="0"/>
                    <a:pt x="16745840" y="522224"/>
                    <a:pt x="16745840" y="1166622"/>
                  </a:cubicBezTo>
                  <a:lnTo>
                    <a:pt x="16733140" y="1166622"/>
                  </a:lnTo>
                  <a:lnTo>
                    <a:pt x="16745840" y="1166622"/>
                  </a:lnTo>
                  <a:lnTo>
                    <a:pt x="16745840" y="5782056"/>
                  </a:lnTo>
                  <a:lnTo>
                    <a:pt x="16733140" y="5782056"/>
                  </a:lnTo>
                  <a:lnTo>
                    <a:pt x="16745840" y="5782056"/>
                  </a:lnTo>
                  <a:cubicBezTo>
                    <a:pt x="16745840" y="6426327"/>
                    <a:pt x="16222345" y="6948678"/>
                    <a:pt x="15576804" y="6948678"/>
                  </a:cubicBezTo>
                  <a:lnTo>
                    <a:pt x="15576804" y="6935978"/>
                  </a:lnTo>
                  <a:lnTo>
                    <a:pt x="15576804" y="6948678"/>
                  </a:lnTo>
                  <a:lnTo>
                    <a:pt x="1169035" y="6948678"/>
                  </a:lnTo>
                  <a:lnTo>
                    <a:pt x="1169035" y="6935978"/>
                  </a:lnTo>
                  <a:lnTo>
                    <a:pt x="1169035" y="6948678"/>
                  </a:lnTo>
                  <a:cubicBezTo>
                    <a:pt x="523494" y="6948678"/>
                    <a:pt x="0" y="6426454"/>
                    <a:pt x="0" y="5782056"/>
                  </a:cubicBezTo>
                  <a:lnTo>
                    <a:pt x="0" y="1166622"/>
                  </a:lnTo>
                  <a:lnTo>
                    <a:pt x="12700" y="1166622"/>
                  </a:lnTo>
                  <a:lnTo>
                    <a:pt x="0" y="1166622"/>
                  </a:lnTo>
                  <a:moveTo>
                    <a:pt x="25400" y="1166622"/>
                  </a:moveTo>
                  <a:lnTo>
                    <a:pt x="25400" y="5782056"/>
                  </a:lnTo>
                  <a:lnTo>
                    <a:pt x="12700" y="5782056"/>
                  </a:lnTo>
                  <a:lnTo>
                    <a:pt x="25400" y="5782056"/>
                  </a:lnTo>
                  <a:cubicBezTo>
                    <a:pt x="25400" y="6412357"/>
                    <a:pt x="537464" y="6923278"/>
                    <a:pt x="1169035" y="6923278"/>
                  </a:cubicBezTo>
                  <a:lnTo>
                    <a:pt x="15576804" y="6923278"/>
                  </a:lnTo>
                  <a:cubicBezTo>
                    <a:pt x="16208502" y="6923278"/>
                    <a:pt x="16720440" y="6412357"/>
                    <a:pt x="16720440" y="5782056"/>
                  </a:cubicBezTo>
                  <a:lnTo>
                    <a:pt x="16720440" y="1166622"/>
                  </a:lnTo>
                  <a:cubicBezTo>
                    <a:pt x="16720440" y="536321"/>
                    <a:pt x="16208375" y="25400"/>
                    <a:pt x="15576804" y="25400"/>
                  </a:cubicBezTo>
                  <a:lnTo>
                    <a:pt x="1169035" y="25400"/>
                  </a:lnTo>
                  <a:lnTo>
                    <a:pt x="1169035" y="12700"/>
                  </a:lnTo>
                  <a:lnTo>
                    <a:pt x="1169035" y="25400"/>
                  </a:lnTo>
                  <a:cubicBezTo>
                    <a:pt x="537464" y="25400"/>
                    <a:pt x="25400" y="536321"/>
                    <a:pt x="25400" y="1166622"/>
                  </a:cubicBez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6745856" cy="7034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Sistema desplegado y funcional.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Inventario actualizado en tiempo real.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Panel administrador intuitivo.</a:t>
              </a:r>
            </a:p>
            <a:p>
              <a:pPr algn="l" marL="760095" indent="-380048" lvl="1">
                <a:lnSpc>
                  <a:spcPts val="5040"/>
                </a:lnSpc>
                <a:buFont typeface="Arial"/>
                <a:buChar char="•"/>
              </a:pPr>
              <a:r>
                <a:rPr lang="en-US" sz="4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Plataforma amigable para el Propietario de la distribuidora y sus clientes asociados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26" y="1943985"/>
            <a:ext cx="18105148" cy="1205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Obstáculos presentados durante el desarrollo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22116" y="3839352"/>
            <a:ext cx="8276642" cy="3261853"/>
            <a:chOff x="0" y="0"/>
            <a:chExt cx="11035522" cy="4349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11010138" cy="4323715"/>
            </a:xfrm>
            <a:custGeom>
              <a:avLst/>
              <a:gdLst/>
              <a:ahLst/>
              <a:cxnLst/>
              <a:rect r="r" b="b" t="t" l="l"/>
              <a:pathLst>
                <a:path h="4323715" w="11010138">
                  <a:moveTo>
                    <a:pt x="0" y="720598"/>
                  </a:moveTo>
                  <a:cubicBezTo>
                    <a:pt x="0" y="322580"/>
                    <a:pt x="323850" y="0"/>
                    <a:pt x="723265" y="0"/>
                  </a:cubicBezTo>
                  <a:lnTo>
                    <a:pt x="10286873" y="0"/>
                  </a:lnTo>
                  <a:cubicBezTo>
                    <a:pt x="10686288" y="0"/>
                    <a:pt x="11010138" y="322580"/>
                    <a:pt x="11010138" y="720598"/>
                  </a:cubicBezTo>
                  <a:lnTo>
                    <a:pt x="11010138" y="3603117"/>
                  </a:lnTo>
                  <a:cubicBezTo>
                    <a:pt x="11010138" y="4001135"/>
                    <a:pt x="10686288" y="4323715"/>
                    <a:pt x="10286873" y="4323715"/>
                  </a:cubicBezTo>
                  <a:lnTo>
                    <a:pt x="723265" y="4323715"/>
                  </a:lnTo>
                  <a:cubicBezTo>
                    <a:pt x="323850" y="4323715"/>
                    <a:pt x="0" y="4001135"/>
                    <a:pt x="0" y="3603117"/>
                  </a:cubicBezTo>
                  <a:close/>
                </a:path>
              </a:pathLst>
            </a:custGeom>
            <a:solidFill>
              <a:srgbClr val="F2A54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35538" cy="4349115"/>
            </a:xfrm>
            <a:custGeom>
              <a:avLst/>
              <a:gdLst/>
              <a:ahLst/>
              <a:cxnLst/>
              <a:rect r="r" b="b" t="t" l="l"/>
              <a:pathLst>
                <a:path h="4349115" w="11035538">
                  <a:moveTo>
                    <a:pt x="0" y="733298"/>
                  </a:moveTo>
                  <a:cubicBezTo>
                    <a:pt x="0" y="328295"/>
                    <a:pt x="329565" y="0"/>
                    <a:pt x="735965" y="0"/>
                  </a:cubicBezTo>
                  <a:lnTo>
                    <a:pt x="10299573" y="0"/>
                  </a:lnTo>
                  <a:lnTo>
                    <a:pt x="10299573" y="12700"/>
                  </a:lnTo>
                  <a:lnTo>
                    <a:pt x="10299573" y="0"/>
                  </a:lnTo>
                  <a:cubicBezTo>
                    <a:pt x="10705973" y="0"/>
                    <a:pt x="11035538" y="328295"/>
                    <a:pt x="11035538" y="733298"/>
                  </a:cubicBezTo>
                  <a:lnTo>
                    <a:pt x="11022838" y="733298"/>
                  </a:lnTo>
                  <a:lnTo>
                    <a:pt x="11035538" y="733298"/>
                  </a:lnTo>
                  <a:lnTo>
                    <a:pt x="11035538" y="3615817"/>
                  </a:lnTo>
                  <a:lnTo>
                    <a:pt x="11022838" y="3615817"/>
                  </a:lnTo>
                  <a:lnTo>
                    <a:pt x="11035538" y="3615817"/>
                  </a:lnTo>
                  <a:cubicBezTo>
                    <a:pt x="11035538" y="4020820"/>
                    <a:pt x="10705973" y="4349115"/>
                    <a:pt x="10299573" y="4349115"/>
                  </a:cubicBezTo>
                  <a:lnTo>
                    <a:pt x="10299573" y="4336415"/>
                  </a:lnTo>
                  <a:lnTo>
                    <a:pt x="10299573" y="4349115"/>
                  </a:lnTo>
                  <a:lnTo>
                    <a:pt x="735965" y="4349115"/>
                  </a:lnTo>
                  <a:lnTo>
                    <a:pt x="735965" y="4336415"/>
                  </a:lnTo>
                  <a:lnTo>
                    <a:pt x="735965" y="4349115"/>
                  </a:lnTo>
                  <a:cubicBezTo>
                    <a:pt x="329565" y="4349115"/>
                    <a:pt x="0" y="4020820"/>
                    <a:pt x="0" y="3615817"/>
                  </a:cubicBezTo>
                  <a:lnTo>
                    <a:pt x="0" y="733298"/>
                  </a:lnTo>
                  <a:lnTo>
                    <a:pt x="12700" y="733298"/>
                  </a:lnTo>
                  <a:lnTo>
                    <a:pt x="0" y="733298"/>
                  </a:lnTo>
                  <a:moveTo>
                    <a:pt x="25400" y="733298"/>
                  </a:moveTo>
                  <a:lnTo>
                    <a:pt x="25400" y="3615817"/>
                  </a:lnTo>
                  <a:lnTo>
                    <a:pt x="12700" y="3615817"/>
                  </a:lnTo>
                  <a:lnTo>
                    <a:pt x="25400" y="3615817"/>
                  </a:lnTo>
                  <a:cubicBezTo>
                    <a:pt x="25400" y="4006723"/>
                    <a:pt x="343408" y="4323715"/>
                    <a:pt x="735965" y="4323715"/>
                  </a:cubicBezTo>
                  <a:lnTo>
                    <a:pt x="10299573" y="4323715"/>
                  </a:lnTo>
                  <a:cubicBezTo>
                    <a:pt x="10692003" y="4323715"/>
                    <a:pt x="11010138" y="4006723"/>
                    <a:pt x="11010138" y="3615817"/>
                  </a:cubicBezTo>
                  <a:lnTo>
                    <a:pt x="11010138" y="733298"/>
                  </a:lnTo>
                  <a:cubicBezTo>
                    <a:pt x="11010138" y="342392"/>
                    <a:pt x="10692003" y="25400"/>
                    <a:pt x="10299573" y="25400"/>
                  </a:cubicBezTo>
                  <a:lnTo>
                    <a:pt x="735965" y="25400"/>
                  </a:lnTo>
                  <a:lnTo>
                    <a:pt x="735965" y="12700"/>
                  </a:lnTo>
                  <a:lnTo>
                    <a:pt x="735965" y="25400"/>
                  </a:lnTo>
                  <a:cubicBezTo>
                    <a:pt x="343408" y="25400"/>
                    <a:pt x="25400" y="342392"/>
                    <a:pt x="25400" y="733298"/>
                  </a:cubicBezTo>
                  <a:close/>
                </a:path>
              </a:pathLst>
            </a:custGeom>
            <a:solidFill>
              <a:srgbClr val="1C305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599486" y="4182068"/>
            <a:ext cx="8963481" cy="259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Problemas iniciales con configuración de Render.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Manejo de archivos estáticos.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APIS innovadoras pero inaccesibles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Ajustes en la verificación por correo.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Problemas con el Cronograma</a:t>
            </a:r>
          </a:p>
          <a:p>
            <a:pPr algn="l" marL="380048" indent="-190024" lvl="1">
              <a:lnSpc>
                <a:spcPts val="252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8873412" y="4352730"/>
            <a:ext cx="7737293" cy="5619362"/>
            <a:chOff x="0" y="0"/>
            <a:chExt cx="10316390" cy="74924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316464" cy="7492492"/>
            </a:xfrm>
            <a:custGeom>
              <a:avLst/>
              <a:gdLst/>
              <a:ahLst/>
              <a:cxnLst/>
              <a:rect r="r" b="b" t="t" l="l"/>
              <a:pathLst>
                <a:path h="7492492" w="10316464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067673" y="0"/>
                  </a:lnTo>
                  <a:cubicBezTo>
                    <a:pt x="9757410" y="0"/>
                    <a:pt x="10316464" y="559054"/>
                    <a:pt x="10316464" y="1248791"/>
                  </a:cubicBezTo>
                  <a:lnTo>
                    <a:pt x="10316464" y="6243701"/>
                  </a:lnTo>
                  <a:cubicBezTo>
                    <a:pt x="10316464" y="6933438"/>
                    <a:pt x="9757410" y="7492492"/>
                    <a:pt x="9067673" y="7492492"/>
                  </a:cubicBezTo>
                  <a:lnTo>
                    <a:pt x="1248791" y="7492492"/>
                  </a:lnTo>
                  <a:cubicBezTo>
                    <a:pt x="559054" y="7492492"/>
                    <a:pt x="0" y="6933438"/>
                    <a:pt x="0" y="6243701"/>
                  </a:cubicBezTo>
                  <a:close/>
                </a:path>
              </a:pathLst>
            </a:custGeom>
            <a:solidFill>
              <a:srgbClr val="757070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316390" cy="7549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Priorizar APIs estables y con soporte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Realizar pruebas en sandbox antes de integrarlas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Migrar a un servicio profesional (SendGrid/Mailgun)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SPF/DKIM para mejorar entregabilidad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Planificación basada en capacidad real</a:t>
              </a:r>
            </a:p>
            <a:p>
              <a:pPr algn="l" marL="488632" indent="-244316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Dividir tareas grandes en entregables pequeños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745817" y="4447805"/>
            <a:ext cx="3536386" cy="575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Soluciones Futuras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25" y="4469243"/>
            <a:ext cx="18105148" cy="1205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PREGUNTAS DE LA COMISIÓN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DAG7IFSZSFc</dc:identifier>
  <dcterms:modified xsi:type="dcterms:W3CDTF">2011-08-01T06:04:30Z</dcterms:modified>
  <cp:revision>1</cp:revision>
  <dc:title>Formato Presentación final (2) (1).pptx</dc:title>
</cp:coreProperties>
</file>